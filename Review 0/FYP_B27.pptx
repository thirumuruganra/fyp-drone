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8"/>
  </p:notesMasterIdLst>
  <p:sldIdLst>
    <p:sldId id="273" r:id="rId5"/>
    <p:sldId id="281" r:id="rId6"/>
    <p:sldId id="28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9A5FA-7F69-493B-AB4E-CFA2DFA32944}" v="1" dt="2026-08-15T17:24:37.1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1"/>
    <p:restoredTop sz="67070" autoAdjust="0"/>
  </p:normalViewPr>
  <p:slideViewPr>
    <p:cSldViewPr snapToGrid="0" snapToObjects="1">
      <p:cViewPr varScale="1">
        <p:scale>
          <a:sx n="74" d="100"/>
          <a:sy n="74" d="100"/>
        </p:scale>
        <p:origin x="195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RUMURUGAN RA" userId="09708c05-04d7-495c-854c-9521936c9cc8" providerId="ADAL" clId="{54A0BF74-E882-4F62-98F9-DB580C3ADD75}"/>
    <pc:docChg chg="undo redo custSel addSld delSld modSld">
      <pc:chgData name="THIRUMURUGAN RA" userId="09708c05-04d7-495c-854c-9521936c9cc8" providerId="ADAL" clId="{54A0BF74-E882-4F62-98F9-DB580C3ADD75}" dt="2026-07-29T16:51:23.421" v="550" actId="20577"/>
      <pc:docMkLst>
        <pc:docMk/>
      </pc:docMkLst>
      <pc:sldChg chg="addSp delSp modSp mod modNotesTx">
        <pc:chgData name="THIRUMURUGAN RA" userId="09708c05-04d7-495c-854c-9521936c9cc8" providerId="ADAL" clId="{54A0BF74-E882-4F62-98F9-DB580C3ADD75}" dt="2026-07-29T16:51:23.421" v="550" actId="20577"/>
        <pc:sldMkLst>
          <pc:docMk/>
          <pc:sldMk cId="855153049" sldId="273"/>
        </pc:sldMkLst>
        <pc:spChg chg="mod">
          <ac:chgData name="THIRUMURUGAN RA" userId="09708c05-04d7-495c-854c-9521936c9cc8" providerId="ADAL" clId="{54A0BF74-E882-4F62-98F9-DB580C3ADD75}" dt="2026-07-29T16:13:37.901" v="509" actId="1076"/>
          <ac:spMkLst>
            <pc:docMk/>
            <pc:sldMk cId="855153049" sldId="273"/>
            <ac:spMk id="3" creationId="{DE7FC528-1755-4BA8-8357-73F72EFC2995}"/>
          </ac:spMkLst>
        </pc:spChg>
        <pc:spChg chg="mod">
          <ac:chgData name="THIRUMURUGAN RA" userId="09708c05-04d7-495c-854c-9521936c9cc8" providerId="ADAL" clId="{54A0BF74-E882-4F62-98F9-DB580C3ADD75}" dt="2026-07-29T16:13:14.352" v="504" actId="1076"/>
          <ac:spMkLst>
            <pc:docMk/>
            <pc:sldMk cId="855153049" sldId="273"/>
            <ac:spMk id="4" creationId="{F9625AAE-3F43-4B0D-8C91-A8900B5F83B4}"/>
          </ac:spMkLst>
        </pc:spChg>
        <pc:spChg chg="mod">
          <ac:chgData name="THIRUMURUGAN RA" userId="09708c05-04d7-495c-854c-9521936c9cc8" providerId="ADAL" clId="{54A0BF74-E882-4F62-98F9-DB580C3ADD75}" dt="2026-07-29T16:13:41.451" v="510" actId="1076"/>
          <ac:spMkLst>
            <pc:docMk/>
            <pc:sldMk cId="855153049" sldId="273"/>
            <ac:spMk id="5" creationId="{AFFB9311-7CBC-41F5-907C-5B7F90A73CA4}"/>
          </ac:spMkLst>
        </pc:spChg>
        <pc:spChg chg="mod">
          <ac:chgData name="THIRUMURUGAN RA" userId="09708c05-04d7-495c-854c-9521936c9cc8" providerId="ADAL" clId="{54A0BF74-E882-4F62-98F9-DB580C3ADD75}" dt="2026-07-29T16:13:52.144" v="512" actId="1076"/>
          <ac:spMkLst>
            <pc:docMk/>
            <pc:sldMk cId="855153049" sldId="273"/>
            <ac:spMk id="6" creationId="{DF4277EE-8C75-4EBB-B13E-EE475B6AADBD}"/>
          </ac:spMkLst>
        </pc:spChg>
        <pc:spChg chg="mod">
          <ac:chgData name="THIRUMURUGAN RA" userId="09708c05-04d7-495c-854c-9521936c9cc8" providerId="ADAL" clId="{54A0BF74-E882-4F62-98F9-DB580C3ADD75}" dt="2026-07-29T16:13:44.099" v="511" actId="1076"/>
          <ac:spMkLst>
            <pc:docMk/>
            <pc:sldMk cId="855153049" sldId="273"/>
            <ac:spMk id="7" creationId="{12631143-82B6-451A-BB3C-96D82009EC8A}"/>
          </ac:spMkLst>
        </pc:spChg>
        <pc:spChg chg="mod">
          <ac:chgData name="THIRUMURUGAN RA" userId="09708c05-04d7-495c-854c-9521936c9cc8" providerId="ADAL" clId="{54A0BF74-E882-4F62-98F9-DB580C3ADD75}" dt="2026-07-29T16:13:55.501" v="513" actId="1076"/>
          <ac:spMkLst>
            <pc:docMk/>
            <pc:sldMk cId="855153049" sldId="273"/>
            <ac:spMk id="8" creationId="{2C4A0CDC-8AE0-4D54-A29C-846088BA933C}"/>
          </ac:spMkLst>
        </pc:spChg>
        <pc:spChg chg="mod">
          <ac:chgData name="THIRUMURUGAN RA" userId="09708c05-04d7-495c-854c-9521936c9cc8" providerId="ADAL" clId="{54A0BF74-E882-4F62-98F9-DB580C3ADD75}" dt="2026-07-29T16:40:51.320" v="549" actId="20577"/>
          <ac:spMkLst>
            <pc:docMk/>
            <pc:sldMk cId="855153049" sldId="273"/>
            <ac:spMk id="9" creationId="{9DCA86EC-B845-4854-85D6-1A8268A7AAEA}"/>
          </ac:spMkLst>
        </pc:spChg>
        <pc:spChg chg="mod">
          <ac:chgData name="THIRUMURUGAN RA" userId="09708c05-04d7-495c-854c-9521936c9cc8" providerId="ADAL" clId="{54A0BF74-E882-4F62-98F9-DB580C3ADD75}" dt="2026-07-29T13:34:39.711" v="78" actId="20578"/>
          <ac:spMkLst>
            <pc:docMk/>
            <pc:sldMk cId="855153049" sldId="273"/>
            <ac:spMk id="12" creationId="{056F554A-E70E-409C-8195-D30CF81BE57E}"/>
          </ac:spMkLst>
        </pc:spChg>
      </pc:sldChg>
      <pc:sldChg chg="modSp mod modNotesTx">
        <pc:chgData name="THIRUMURUGAN RA" userId="09708c05-04d7-495c-854c-9521936c9cc8" providerId="ADAL" clId="{54A0BF74-E882-4F62-98F9-DB580C3ADD75}" dt="2026-07-29T15:28:59.305" v="236" actId="113"/>
        <pc:sldMkLst>
          <pc:docMk/>
          <pc:sldMk cId="210007076" sldId="281"/>
        </pc:sldMkLst>
        <pc:spChg chg="mod">
          <ac:chgData name="THIRUMURUGAN RA" userId="09708c05-04d7-495c-854c-9521936c9cc8" providerId="ADAL" clId="{54A0BF74-E882-4F62-98F9-DB580C3ADD75}" dt="2026-07-29T13:09:34.437" v="54" actId="20577"/>
          <ac:spMkLst>
            <pc:docMk/>
            <pc:sldMk cId="210007076" sldId="281"/>
            <ac:spMk id="6" creationId="{72447C3C-72D9-46B0-BE4B-5B69585E5B02}"/>
          </ac:spMkLst>
        </pc:spChg>
        <pc:spChg chg="mod">
          <ac:chgData name="THIRUMURUGAN RA" userId="09708c05-04d7-495c-854c-9521936c9cc8" providerId="ADAL" clId="{54A0BF74-E882-4F62-98F9-DB580C3ADD75}" dt="2026-07-29T15:28:13.609" v="224" actId="20577"/>
          <ac:spMkLst>
            <pc:docMk/>
            <pc:sldMk cId="210007076" sldId="281"/>
            <ac:spMk id="7" creationId="{0ECDDDF4-DE05-4BA9-A348-3FB30A4CDA35}"/>
          </ac:spMkLst>
        </pc:spChg>
        <pc:spChg chg="mod">
          <ac:chgData name="THIRUMURUGAN RA" userId="09708c05-04d7-495c-854c-9521936c9cc8" providerId="ADAL" clId="{54A0BF74-E882-4F62-98F9-DB580C3ADD75}" dt="2026-07-29T13:13:52.236" v="57" actId="20577"/>
          <ac:spMkLst>
            <pc:docMk/>
            <pc:sldMk cId="210007076" sldId="281"/>
            <ac:spMk id="9" creationId="{E7A1EA0F-1B87-4E51-B4A4-B997A19199A5}"/>
          </ac:spMkLst>
        </pc:spChg>
        <pc:spChg chg="mod">
          <ac:chgData name="THIRUMURUGAN RA" userId="09708c05-04d7-495c-854c-9521936c9cc8" providerId="ADAL" clId="{54A0BF74-E882-4F62-98F9-DB580C3ADD75}" dt="2026-07-29T15:23:21.254" v="139" actId="1076"/>
          <ac:spMkLst>
            <pc:docMk/>
            <pc:sldMk cId="210007076" sldId="281"/>
            <ac:spMk id="10" creationId="{F1A77C67-7783-42E3-A694-494183C24569}"/>
          </ac:spMkLst>
        </pc:spChg>
      </pc:sldChg>
      <pc:sldChg chg="modSp add mod">
        <pc:chgData name="THIRUMURUGAN RA" userId="09708c05-04d7-495c-854c-9521936c9cc8" providerId="ADAL" clId="{54A0BF74-E882-4F62-98F9-DB580C3ADD75}" dt="2026-07-29T15:59:08.734" v="329" actId="1076"/>
        <pc:sldMkLst>
          <pc:docMk/>
          <pc:sldMk cId="3985445172" sldId="284"/>
        </pc:sldMkLst>
        <pc:graphicFrameChg chg="mod modGraphic">
          <ac:chgData name="THIRUMURUGAN RA" userId="09708c05-04d7-495c-854c-9521936c9cc8" providerId="ADAL" clId="{54A0BF74-E882-4F62-98F9-DB580C3ADD75}" dt="2026-07-29T15:59:08.734" v="329" actId="1076"/>
          <ac:graphicFrameMkLst>
            <pc:docMk/>
            <pc:sldMk cId="3985445172" sldId="284"/>
            <ac:graphicFrameMk id="5" creationId="{51DCFD60-0DF6-432F-A055-1DE5E14FAAF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7BD58-3CBB-4F2D-8B6D-E6015D5F9F34}" type="datetimeFigureOut">
              <a:rPr lang="en-IN" smtClean="0"/>
              <a:t>15-08-2026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ECF2A4-14D0-4638-872B-B035699DEE22}" type="slidenum">
              <a:rPr lang="en-IN" smtClean="0"/>
              <a:t>‹#›</a:t>
            </a:fld>
            <a:endParaRPr lang="en-IN"/>
          </a:p>
        </p:txBody>
      </p:sp>
    </p:spTree>
    <p:extLst>
      <p:ext uri="{BB962C8B-B14F-4D97-AF65-F5344CB8AC3E}">
        <p14:creationId xmlns:p14="http://schemas.microsoft.com/office/powerpoint/2010/main" val="1128933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Existing Work:</a:t>
            </a:r>
          </a:p>
          <a:p>
            <a:endParaRPr lang="en-IN" dirty="0"/>
          </a:p>
          <a:p>
            <a:pPr rtl="0"/>
            <a:r>
              <a:rPr lang="en-IN" b="1" dirty="0"/>
              <a:t>1. Chokkalingam &amp; Ganesan (2026) — RAIRO-Oper. Res.</a:t>
            </a:r>
          </a:p>
          <a:p>
            <a:pPr rtl="0"/>
            <a:r>
              <a:rPr lang="en-IN" b="1"/>
              <a:t>What </a:t>
            </a:r>
            <a:r>
              <a:rPr lang="en-IN" b="1" dirty="0"/>
              <a:t>they did:</a:t>
            </a:r>
            <a:br>
              <a:rPr lang="en-IN" dirty="0"/>
            </a:br>
            <a:r>
              <a:rPr lang="en-IN" dirty="0"/>
              <a:t>They built a UAV path planner that optimises five things at once — path length, energy, safety, obstacle avoidance, and weather. Instead of picking one winner, the algorithm keeps a whole collection of good routes called a Pareto front, where no single route is best at everything but each one represents a different trade-off. To pick from this collection, they use something called </a:t>
            </a:r>
            <a:r>
              <a:rPr lang="en-IN" b="1" dirty="0"/>
              <a:t>entropy</a:t>
            </a:r>
            <a:r>
              <a:rPr lang="en-IN" dirty="0"/>
              <a:t> — essentially, they look at how spread out the solutions are and pick the ones that are most different from each other, so the final set covers a wide variety of options.</a:t>
            </a:r>
          </a:p>
          <a:p>
            <a:pPr rtl="0"/>
            <a:r>
              <a:rPr lang="en-IN" b="1" dirty="0"/>
              <a:t>Simple analogy:</a:t>
            </a:r>
            <a:br>
              <a:rPr lang="en-IN" dirty="0"/>
            </a:br>
            <a:r>
              <a:rPr lang="en-IN" dirty="0"/>
              <a:t>Imagine you have 50 different routes on a map. Entropy-based selection says "let me pick 10 of these 50 that are as different from each other as possible" — like picking routes that are geographically spread out rather than clustered together.</a:t>
            </a:r>
          </a:p>
          <a:p>
            <a:pPr rtl="0"/>
            <a:r>
              <a:rPr lang="en-IN" b="1" dirty="0"/>
              <a:t>Why it falls short for your FYP:</a:t>
            </a:r>
            <a:br>
              <a:rPr lang="en-IN" dirty="0"/>
            </a:br>
            <a:r>
              <a:rPr lang="en-IN" dirty="0"/>
              <a:t>The selection is based purely on mathematical spread — it has no idea what you are delivering. Whether you are carrying a fragile blood sample or an emergency vaccine, the same set of routes gets picked. The algorithm never asks "what is the payload?" before choosing.</a:t>
            </a:r>
          </a:p>
          <a:p>
            <a:br>
              <a:rPr lang="en-IN" dirty="0"/>
            </a:br>
            <a:endParaRPr lang="en-IN" dirty="0"/>
          </a:p>
          <a:p>
            <a:pPr rtl="0"/>
            <a:r>
              <a:rPr lang="en-IN" b="1" dirty="0"/>
              <a:t>2. Datsko et al. (2024) — IEEE RA-L</a:t>
            </a:r>
          </a:p>
          <a:p>
            <a:pPr rtl="0"/>
            <a:r>
              <a:rPr lang="en-IN" b="1" dirty="0"/>
              <a:t>What they did:</a:t>
            </a:r>
            <a:br>
              <a:rPr lang="en-IN" dirty="0"/>
            </a:br>
            <a:r>
              <a:rPr lang="en-IN" dirty="0"/>
              <a:t>This paper also generates multiple Pareto-optimal routes for a UAV and then selects from them. Their selection strategy focuses on </a:t>
            </a:r>
            <a:r>
              <a:rPr lang="en-IN" b="1" dirty="0"/>
              <a:t>geometric diversity</a:t>
            </a:r>
            <a:r>
              <a:rPr lang="en-IN" dirty="0"/>
              <a:t> — meaning they try to make sure the selected routes are spread across the entire trade-off space, not clustered around one type of solution. Think of it like making sure you have routes that are evenly distributed between "very short but risky" and "very safe but long" and everything in between.</a:t>
            </a:r>
          </a:p>
          <a:p>
            <a:pPr rtl="0"/>
            <a:r>
              <a:rPr lang="en-IN" b="1" dirty="0"/>
              <a:t>Simple analogy:</a:t>
            </a:r>
            <a:br>
              <a:rPr lang="en-IN" dirty="0"/>
            </a:br>
            <a:r>
              <a:rPr lang="en-IN" dirty="0"/>
              <a:t>Imagine the Pareto front as a rainbow. Diversity-driven selection makes sure you pick one route from the red end, one from the blue end, one from the middle, and so on — so the operator has a full spectrum of options. It is a very neat mathematical property.</a:t>
            </a:r>
          </a:p>
          <a:p>
            <a:pPr rtl="0"/>
            <a:r>
              <a:rPr lang="en-IN" b="1" dirty="0"/>
              <a:t>Why it falls short for your FYP:</a:t>
            </a:r>
            <a:br>
              <a:rPr lang="en-IN" dirty="0"/>
            </a:br>
            <a:r>
              <a:rPr lang="en-IN" dirty="0"/>
              <a:t>The selection is still completely blind to the mission. It picks routes to maximise geometric spread across the trade-off space, not because any specific route suits the payload being carried. If you are delivering temperature-sensitive medicine that must arrive within 30 minutes, this method does not automatically steer toward the fastest route — a human still has to look at the spread and choose manually.</a:t>
            </a:r>
          </a:p>
          <a:p>
            <a:br>
              <a:rPr lang="en-IN" dirty="0"/>
            </a:br>
            <a:endParaRPr lang="en-IN" dirty="0"/>
          </a:p>
          <a:p>
            <a:pPr rtl="0"/>
            <a:r>
              <a:rPr lang="en-IN" b="1" dirty="0"/>
              <a:t>3. </a:t>
            </a:r>
            <a:r>
              <a:rPr lang="en-IN" b="1" dirty="0" err="1"/>
              <a:t>Ntakolia</a:t>
            </a:r>
            <a:r>
              <a:rPr lang="en-IN" b="1" dirty="0"/>
              <a:t> et al. (2023) — J. Intell. Robot. Syst.</a:t>
            </a:r>
          </a:p>
          <a:p>
            <a:pPr rtl="0"/>
            <a:r>
              <a:rPr lang="en-IN" b="1" dirty="0"/>
              <a:t>What they did:</a:t>
            </a:r>
            <a:br>
              <a:rPr lang="en-IN" dirty="0"/>
            </a:br>
            <a:r>
              <a:rPr lang="en-IN" dirty="0"/>
              <a:t>This paper embeds a concept called </a:t>
            </a:r>
            <a:r>
              <a:rPr lang="en-IN" b="1" dirty="0"/>
              <a:t>crowding distance</a:t>
            </a:r>
            <a:r>
              <a:rPr lang="en-IN" dirty="0"/>
              <a:t> into UAV path planning. Crowding distance is a term borrowed from evolutionary algorithms — it measures how isolated a solution is from its neighbours on the Pareto front. A solution with high crowding distance is surrounded by fewer similar solutions, meaning it represents a more unique trade-off. The planner prefers solutions with high crowding distance to keep the final set diverse and well-spread.</a:t>
            </a:r>
          </a:p>
          <a:p>
            <a:pPr rtl="0"/>
            <a:r>
              <a:rPr lang="en-IN" b="1" dirty="0"/>
              <a:t>Simple analogy:</a:t>
            </a:r>
            <a:br>
              <a:rPr lang="en-IN" dirty="0"/>
            </a:br>
            <a:r>
              <a:rPr lang="en-IN" dirty="0"/>
              <a:t>Imagine the Pareto front as a row of people standing at different positions. Crowding distance measures how much personal space each person has. The algorithm prefers people who are standing far apart from their neighbours, so the final group has no one standing too close together. This guarantees variety in the solutions selected.</a:t>
            </a:r>
          </a:p>
          <a:p>
            <a:pPr rtl="0"/>
            <a:r>
              <a:rPr lang="en-IN" b="1" dirty="0"/>
              <a:t>Why it falls short for your FYP:</a:t>
            </a:r>
            <a:br>
              <a:rPr lang="en-IN" dirty="0"/>
            </a:br>
            <a:r>
              <a:rPr lang="en-IN" dirty="0"/>
              <a:t>Crowding distance is a geometric measure — it only looks at the shape of the Pareto front, not the context of the mission. It cannot encode the fact that a fragile payload should avoid turbulent high-altitude paths, or that a priority-tagged delivery should lean toward the shortest route regardless of energy cost. Payload characteristics simply do not enter the calculation at any point.</a:t>
            </a:r>
          </a:p>
        </p:txBody>
      </p:sp>
      <p:sp>
        <p:nvSpPr>
          <p:cNvPr id="4" name="Slide Number Placeholder 3"/>
          <p:cNvSpPr>
            <a:spLocks noGrp="1"/>
          </p:cNvSpPr>
          <p:nvPr>
            <p:ph type="sldNum" sz="quarter" idx="5"/>
          </p:nvPr>
        </p:nvSpPr>
        <p:spPr/>
        <p:txBody>
          <a:bodyPr/>
          <a:lstStyle/>
          <a:p>
            <a:fld id="{3FECF2A4-14D0-4638-872B-B035699DEE22}" type="slidenum">
              <a:rPr lang="en-IN" smtClean="0"/>
              <a:t>1</a:t>
            </a:fld>
            <a:endParaRPr lang="en-IN"/>
          </a:p>
        </p:txBody>
      </p:sp>
    </p:spTree>
    <p:extLst>
      <p:ext uri="{BB962C8B-B14F-4D97-AF65-F5344CB8AC3E}">
        <p14:creationId xmlns:p14="http://schemas.microsoft.com/office/powerpoint/2010/main" val="1962832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Novelty:</a:t>
            </a:r>
          </a:p>
          <a:p>
            <a:endParaRPr lang="en-IN" dirty="0"/>
          </a:p>
          <a:p>
            <a:pPr lvl="0"/>
            <a:r>
              <a:rPr lang="en-IN" b="1" dirty="0"/>
              <a:t>Payload-driven Pareto selection</a:t>
            </a:r>
            <a:r>
              <a:rPr lang="en-IN" dirty="0"/>
              <a:t> — the first system to use payload metadata as the sole input to route selection; existing methods (entropy, crowding distance, geometric diversity) are entirely blind to what is being delivered.</a:t>
            </a:r>
          </a:p>
          <a:p>
            <a:pPr lvl="0"/>
            <a:r>
              <a:rPr lang="en-IN" b="1" dirty="0"/>
              <a:t>Separation of generation from selection</a:t>
            </a:r>
            <a:r>
              <a:rPr lang="en-IN" dirty="0"/>
              <a:t> — the Pareto front is pre-computed once per delivery region and reused across all successive missions, eliminating redundant computation.</a:t>
            </a:r>
          </a:p>
          <a:p>
            <a:pPr lvl="0"/>
            <a:r>
              <a:rPr lang="en-IN" b="1" dirty="0"/>
              <a:t>Deterministic Pareto construction</a:t>
            </a:r>
            <a:r>
              <a:rPr lang="en-IN" dirty="0"/>
              <a:t> — graph-search replaces stochastic optimisers, guaranteeing reproducible results and runtime predictability for embedded ground-station deployment.</a:t>
            </a:r>
          </a:p>
          <a:p>
            <a:pPr lvl="0"/>
            <a:r>
              <a:rPr lang="en-IN" b="1" dirty="0"/>
              <a:t>Non-expert operable</a:t>
            </a:r>
            <a:r>
              <a:rPr lang="en-IN" dirty="0"/>
              <a:t> — a field operator assigns one payload tag; the system resolves the trade-off and outputs a ready-to-fly mission file autonomously.</a:t>
            </a:r>
          </a:p>
        </p:txBody>
      </p:sp>
      <p:sp>
        <p:nvSpPr>
          <p:cNvPr id="4" name="Slide Number Placeholder 3"/>
          <p:cNvSpPr>
            <a:spLocks noGrp="1"/>
          </p:cNvSpPr>
          <p:nvPr>
            <p:ph type="sldNum" sz="quarter" idx="5"/>
          </p:nvPr>
        </p:nvSpPr>
        <p:spPr/>
        <p:txBody>
          <a:bodyPr/>
          <a:lstStyle/>
          <a:p>
            <a:fld id="{3FECF2A4-14D0-4638-872B-B035699DEE22}" type="slidenum">
              <a:rPr lang="en-IN" smtClean="0"/>
              <a:t>2</a:t>
            </a:fld>
            <a:endParaRPr lang="en-IN"/>
          </a:p>
        </p:txBody>
      </p:sp>
    </p:spTree>
    <p:extLst>
      <p:ext uri="{BB962C8B-B14F-4D97-AF65-F5344CB8AC3E}">
        <p14:creationId xmlns:p14="http://schemas.microsoft.com/office/powerpoint/2010/main" val="163177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ECF2A4-14D0-4638-872B-B035699DEE22}" type="slidenum">
              <a:rPr lang="en-IN" smtClean="0"/>
              <a:t>3</a:t>
            </a:fld>
            <a:endParaRPr lang="en-IN"/>
          </a:p>
        </p:txBody>
      </p:sp>
    </p:spTree>
    <p:extLst>
      <p:ext uri="{BB962C8B-B14F-4D97-AF65-F5344CB8AC3E}">
        <p14:creationId xmlns:p14="http://schemas.microsoft.com/office/powerpoint/2010/main" val="3359178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8/15/2026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8/15/2026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051/ro/2025159"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doi.org/10.1007/s10846-023-01945-9" TargetMode="External"/><Relationship Id="rId4" Type="http://schemas.openxmlformats.org/officeDocument/2006/relationships/hyperlink" Target="https://ieeexplore.ieee.org/document/10414185"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nd">
            <a:extLst>
              <a:ext uri="{FF2B5EF4-FFF2-40B4-BE49-F238E27FC236}">
                <a16:creationId xmlns:a16="http://schemas.microsoft.com/office/drawing/2014/main" id="{09A856D3-0CEA-46E2-9DD7-9EBB3D4AB3C9}"/>
              </a:ext>
            </a:extLst>
          </p:cNvPr>
          <p:cNvSpPr/>
          <p:nvPr/>
        </p:nvSpPr>
        <p:spPr>
          <a:xfrm>
            <a:off x="0" y="0"/>
            <a:ext cx="12192000" cy="965200"/>
          </a:xfrm>
          <a:prstGeom prst="rect">
            <a:avLst/>
          </a:prstGeom>
          <a:solidFill>
            <a:srgbClr val="00206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Title">
            <a:extLst>
              <a:ext uri="{FF2B5EF4-FFF2-40B4-BE49-F238E27FC236}">
                <a16:creationId xmlns:a16="http://schemas.microsoft.com/office/drawing/2014/main" id="{DE7FC528-1755-4BA8-8357-73F72EFC2995}"/>
              </a:ext>
            </a:extLst>
          </p:cNvPr>
          <p:cNvSpPr txBox="1"/>
          <p:nvPr/>
        </p:nvSpPr>
        <p:spPr>
          <a:xfrm>
            <a:off x="254000" y="64537"/>
            <a:ext cx="11684000" cy="836126"/>
          </a:xfrm>
          <a:prstGeom prst="rect">
            <a:avLst/>
          </a:prstGeom>
          <a:noFill/>
        </p:spPr>
        <p:txBody>
          <a:bodyPr vertOverflow="overflow" vert="horz" wrap="square" rtlCol="0" anchor="ctr" anchorCtr="0">
            <a:spAutoFit/>
          </a:bodyPr>
          <a:lstStyle/>
          <a:p>
            <a:pPr algn="ctr">
              <a:lnSpc>
                <a:spcPts val="2880"/>
              </a:lnSpc>
            </a:pPr>
            <a:r>
              <a:rPr lang="en-US" sz="2500" b="1" dirty="0">
                <a:solidFill>
                  <a:srgbClr val="FFFFFF"/>
                </a:solidFill>
              </a:rPr>
              <a:t>Payload-Aware Two-Tier UAV Route Planning for</a:t>
            </a:r>
          </a:p>
          <a:p>
            <a:pPr algn="ctr">
              <a:lnSpc>
                <a:spcPts val="2880"/>
              </a:lnSpc>
            </a:pPr>
            <a:r>
              <a:rPr lang="en-US" sz="2500" b="1" dirty="0">
                <a:solidFill>
                  <a:srgbClr val="FFFFFF"/>
                </a:solidFill>
              </a:rPr>
              <a:t>Last-Mile Delivery</a:t>
            </a:r>
          </a:p>
        </p:txBody>
      </p:sp>
      <p:sp>
        <p:nvSpPr>
          <p:cNvPr id="4" name="Team">
            <a:extLst>
              <a:ext uri="{FF2B5EF4-FFF2-40B4-BE49-F238E27FC236}">
                <a16:creationId xmlns:a16="http://schemas.microsoft.com/office/drawing/2014/main" id="{F9625AAE-3F43-4B0D-8C91-A8900B5F83B4}"/>
              </a:ext>
            </a:extLst>
          </p:cNvPr>
          <p:cNvSpPr txBox="1"/>
          <p:nvPr/>
        </p:nvSpPr>
        <p:spPr>
          <a:xfrm>
            <a:off x="254000" y="1026860"/>
            <a:ext cx="11684000" cy="304800"/>
          </a:xfrm>
          <a:prstGeom prst="rect">
            <a:avLst/>
          </a:prstGeom>
          <a:noFill/>
        </p:spPr>
        <p:txBody>
          <a:bodyPr vertOverflow="overflow" vert="horz" wrap="square" rtlCol="0" anchor="ctr" anchorCtr="0">
            <a:spAutoFit/>
          </a:bodyPr>
          <a:lstStyle/>
          <a:p>
            <a:pPr algn="ctr"/>
            <a:r>
              <a:rPr lang="en-US" sz="1600" b="1" dirty="0"/>
              <a:t>Thirumurugan RA (3122235001149), Shrika SP Thota (3122235001125), Meghna Manimaran (3122235001079)</a:t>
            </a:r>
          </a:p>
        </p:txBody>
      </p:sp>
      <p:sp>
        <p:nvSpPr>
          <p:cNvPr id="5" name="Guide">
            <a:extLst>
              <a:ext uri="{FF2B5EF4-FFF2-40B4-BE49-F238E27FC236}">
                <a16:creationId xmlns:a16="http://schemas.microsoft.com/office/drawing/2014/main" id="{AFFB9311-7CBC-41F5-907C-5B7F90A73CA4}"/>
              </a:ext>
            </a:extLst>
          </p:cNvPr>
          <p:cNvSpPr txBox="1"/>
          <p:nvPr/>
        </p:nvSpPr>
        <p:spPr>
          <a:xfrm>
            <a:off x="254000" y="1354287"/>
            <a:ext cx="11684000" cy="304800"/>
          </a:xfrm>
          <a:prstGeom prst="rect">
            <a:avLst/>
          </a:prstGeom>
          <a:noFill/>
        </p:spPr>
        <p:txBody>
          <a:bodyPr vertOverflow="overflow" vert="horz" wrap="square" rtlCol="0" anchor="ctr" anchorCtr="0">
            <a:spAutoFit/>
          </a:bodyPr>
          <a:lstStyle/>
          <a:p>
            <a:pPr algn="ctr"/>
            <a:r>
              <a:rPr lang="en-US" sz="1600" b="1" dirty="0"/>
              <a:t>Guide Name : Sujaudeen N, Assistant Professor, Department of Computer Science and Engineering</a:t>
            </a:r>
          </a:p>
        </p:txBody>
      </p:sp>
      <p:sp>
        <p:nvSpPr>
          <p:cNvPr id="6" name="PDHeader">
            <a:extLst>
              <a:ext uri="{FF2B5EF4-FFF2-40B4-BE49-F238E27FC236}">
                <a16:creationId xmlns:a16="http://schemas.microsoft.com/office/drawing/2014/main" id="{DF4277EE-8C75-4EBB-B13E-EE475B6AADBD}"/>
              </a:ext>
            </a:extLst>
          </p:cNvPr>
          <p:cNvSpPr txBox="1"/>
          <p:nvPr/>
        </p:nvSpPr>
        <p:spPr>
          <a:xfrm>
            <a:off x="254000" y="1746510"/>
            <a:ext cx="5715000" cy="384721"/>
          </a:xfrm>
          <a:prstGeom prst="rect">
            <a:avLst/>
          </a:prstGeom>
          <a:noFill/>
        </p:spPr>
        <p:txBody>
          <a:bodyPr vertOverflow="overflow" vert="horz" wrap="square" rtlCol="0" anchor="ctr" anchorCtr="0">
            <a:spAutoFit/>
          </a:bodyPr>
          <a:lstStyle/>
          <a:p>
            <a:pPr algn="ctr"/>
            <a:r>
              <a:rPr lang="en-US" sz="1900" b="1" dirty="0">
                <a:solidFill>
                  <a:srgbClr val="002060"/>
                </a:solidFill>
              </a:rPr>
              <a:t>Problem Domain</a:t>
            </a:r>
          </a:p>
        </p:txBody>
      </p:sp>
      <p:sp>
        <p:nvSpPr>
          <p:cNvPr id="7" name="PSHeader">
            <a:extLst>
              <a:ext uri="{FF2B5EF4-FFF2-40B4-BE49-F238E27FC236}">
                <a16:creationId xmlns:a16="http://schemas.microsoft.com/office/drawing/2014/main" id="{12631143-82B6-451A-BB3C-96D82009EC8A}"/>
              </a:ext>
            </a:extLst>
          </p:cNvPr>
          <p:cNvSpPr txBox="1"/>
          <p:nvPr/>
        </p:nvSpPr>
        <p:spPr>
          <a:xfrm>
            <a:off x="6223000" y="1746511"/>
            <a:ext cx="5715000" cy="384721"/>
          </a:xfrm>
          <a:prstGeom prst="rect">
            <a:avLst/>
          </a:prstGeom>
          <a:noFill/>
        </p:spPr>
        <p:txBody>
          <a:bodyPr vertOverflow="overflow" vert="horz" wrap="square" rtlCol="0" anchor="ctr" anchorCtr="0">
            <a:spAutoFit/>
          </a:bodyPr>
          <a:lstStyle/>
          <a:p>
            <a:pPr algn="ctr"/>
            <a:r>
              <a:rPr lang="en-US" sz="1900" b="1" dirty="0">
                <a:solidFill>
                  <a:srgbClr val="002060"/>
                </a:solidFill>
              </a:rPr>
              <a:t>Problem Statement</a:t>
            </a:r>
          </a:p>
        </p:txBody>
      </p:sp>
      <p:sp>
        <p:nvSpPr>
          <p:cNvPr id="8" name="PDContent">
            <a:extLst>
              <a:ext uri="{FF2B5EF4-FFF2-40B4-BE49-F238E27FC236}">
                <a16:creationId xmlns:a16="http://schemas.microsoft.com/office/drawing/2014/main" id="{2C4A0CDC-8AE0-4D54-A29C-846088BA933C}"/>
              </a:ext>
            </a:extLst>
          </p:cNvPr>
          <p:cNvSpPr txBox="1"/>
          <p:nvPr/>
        </p:nvSpPr>
        <p:spPr>
          <a:xfrm>
            <a:off x="254000" y="2133160"/>
            <a:ext cx="5715000" cy="2277547"/>
          </a:xfrm>
          <a:prstGeom prst="rect">
            <a:avLst/>
          </a:prstGeom>
          <a:noFill/>
        </p:spPr>
        <p:txBody>
          <a:bodyPr vertOverflow="overflow" vert="horz" wrap="square" rtlCol="0" anchor="t">
            <a:spAutoFit/>
          </a:bodyPr>
          <a:lstStyle/>
          <a:p>
            <a:pPr algn="just">
              <a:lnSpc>
                <a:spcPts val="1320"/>
              </a:lnSpc>
              <a:spcAft>
                <a:spcPts val="0"/>
              </a:spcAft>
            </a:pPr>
            <a:r>
              <a:rPr lang="en-IN" sz="1100" dirty="0"/>
              <a:t>Autonomous UAV systems for medical and emergency last-mile delivery, where route planning must simultaneously satisfy conflicting objectives (travel distance, battery consumption, and flight risk) under dynamic field conditions without on-site expert supervision.</a:t>
            </a:r>
          </a:p>
          <a:p>
            <a:pPr algn="just">
              <a:lnSpc>
                <a:spcPts val="1320"/>
              </a:lnSpc>
              <a:spcAft>
                <a:spcPts val="0"/>
              </a:spcAft>
            </a:pPr>
            <a:endParaRPr lang="en-IN" sz="2000" dirty="0"/>
          </a:p>
          <a:p>
            <a:pPr algn="just">
              <a:lnSpc>
                <a:spcPts val="1320"/>
              </a:lnSpc>
              <a:spcAft>
                <a:spcPts val="0"/>
              </a:spcAft>
            </a:pPr>
            <a:r>
              <a:rPr lang="en-IN" sz="1100" b="1" dirty="0"/>
              <a:t>Motivation:</a:t>
            </a:r>
            <a:endParaRPr lang="en-US" sz="1100" b="1" dirty="0"/>
          </a:p>
          <a:p>
            <a:pPr marL="171450" lvl="0" indent="-171450">
              <a:buFont typeface="Arial" panose="020B0604020202020204" pitchFamily="34" charset="0"/>
              <a:buChar char="•"/>
            </a:pPr>
            <a:r>
              <a:rPr lang="en-IN" sz="1100" dirty="0"/>
              <a:t>Fragile payloads require low-vibration, low-risk paths; emergency medicine requires minimum-time routes; disaster-relief supplies require energy-efficient coverage. Every payload type demands a fundamentally different route trade-off.</a:t>
            </a:r>
          </a:p>
          <a:p>
            <a:pPr marL="171450" lvl="0" indent="-171450">
              <a:buFont typeface="Arial" panose="020B0604020202020204" pitchFamily="34" charset="0"/>
              <a:buChar char="•"/>
            </a:pPr>
            <a:r>
              <a:rPr lang="en-IN" sz="1100" dirty="0"/>
              <a:t>No current planner adjusts its routing priorities to match what is being carried. The same fixed objective weights are applied to every mission, forcing field operators to manually re-calibrate between every deployment, which is impractical and error-prone in time-critical emergency scenarios.</a:t>
            </a:r>
          </a:p>
        </p:txBody>
      </p:sp>
      <p:sp>
        <p:nvSpPr>
          <p:cNvPr id="9" name="PSContent">
            <a:extLst>
              <a:ext uri="{FF2B5EF4-FFF2-40B4-BE49-F238E27FC236}">
                <a16:creationId xmlns:a16="http://schemas.microsoft.com/office/drawing/2014/main" id="{9DCA86EC-B845-4854-85D6-1A8268A7AAEA}"/>
              </a:ext>
            </a:extLst>
          </p:cNvPr>
          <p:cNvSpPr txBox="1"/>
          <p:nvPr/>
        </p:nvSpPr>
        <p:spPr>
          <a:xfrm>
            <a:off x="6223000" y="2147090"/>
            <a:ext cx="5715000" cy="2123658"/>
          </a:xfrm>
          <a:prstGeom prst="rect">
            <a:avLst/>
          </a:prstGeom>
          <a:noFill/>
        </p:spPr>
        <p:txBody>
          <a:bodyPr vertOverflow="overflow" vert="horz" wrap="square" rtlCol="0" anchor="t">
            <a:spAutoFit/>
          </a:bodyPr>
          <a:lstStyle/>
          <a:p>
            <a:pPr algn="just"/>
            <a:r>
              <a:rPr lang="en-IN" sz="1100" dirty="0"/>
              <a:t>Existing UAV route planners encode distance, energy, and flight risk into </a:t>
            </a:r>
            <a:r>
              <a:rPr lang="en-IN" sz="1100" b="1" dirty="0"/>
              <a:t>a single hand-tuned weighted-sum scalar </a:t>
            </a:r>
            <a:r>
              <a:rPr lang="en-IN" sz="1100" dirty="0"/>
              <a:t>before path search begins, permanently fixing the objective trade-off regardless of what is being carried. When payload context changes from fragile diagnostic samples requiring vibration-minimal routing to time-critical emergency medicine requiring shortest-path routing an expert must manually re-tune planner weights and re-run the search from scratch, an intervention that is </a:t>
            </a:r>
            <a:r>
              <a:rPr lang="en-IN" sz="1100" b="1" dirty="0"/>
              <a:t>infeasible in field conditions.</a:t>
            </a:r>
            <a:r>
              <a:rPr lang="en-IN" sz="1100" dirty="0"/>
              <a:t> </a:t>
            </a:r>
          </a:p>
          <a:p>
            <a:pPr algn="just"/>
            <a:endParaRPr lang="en-IN" sz="1100" dirty="0"/>
          </a:p>
          <a:p>
            <a:pPr algn="just"/>
            <a:r>
              <a:rPr lang="en-IN" sz="1100" dirty="0"/>
              <a:t>Our proposed system resolves this by separating Pareto front generation from mission-context-driven route selection; payload metadata (fragility class, temperature sensitivity, delivery urgency) has never been used as the sole input to autonomous Pareto point selection in the UAV delivery literature, leaving a structural gap this project directly addresses.</a:t>
            </a:r>
          </a:p>
        </p:txBody>
      </p:sp>
      <p:sp>
        <p:nvSpPr>
          <p:cNvPr id="10" name="EWBand">
            <a:extLst>
              <a:ext uri="{FF2B5EF4-FFF2-40B4-BE49-F238E27FC236}">
                <a16:creationId xmlns:a16="http://schemas.microsoft.com/office/drawing/2014/main" id="{051B96ED-5A3C-49FE-8C65-36E3D31DA6FE}"/>
              </a:ext>
            </a:extLst>
          </p:cNvPr>
          <p:cNvSpPr/>
          <p:nvPr/>
        </p:nvSpPr>
        <p:spPr>
          <a:xfrm>
            <a:off x="0" y="4432300"/>
            <a:ext cx="12192000" cy="431800"/>
          </a:xfrm>
          <a:prstGeom prst="rect">
            <a:avLst/>
          </a:prstGeom>
          <a:solidFill>
            <a:srgbClr val="00206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1" name="EWTitle">
            <a:extLst>
              <a:ext uri="{FF2B5EF4-FFF2-40B4-BE49-F238E27FC236}">
                <a16:creationId xmlns:a16="http://schemas.microsoft.com/office/drawing/2014/main" id="{0EDD0244-3DBA-4FA1-8C39-DDDC37ED7788}"/>
              </a:ext>
            </a:extLst>
          </p:cNvPr>
          <p:cNvSpPr txBox="1"/>
          <p:nvPr/>
        </p:nvSpPr>
        <p:spPr>
          <a:xfrm>
            <a:off x="254000" y="4409673"/>
            <a:ext cx="11684000" cy="477054"/>
          </a:xfrm>
          <a:prstGeom prst="rect">
            <a:avLst/>
          </a:prstGeom>
          <a:noFill/>
        </p:spPr>
        <p:txBody>
          <a:bodyPr vertOverflow="overflow" vert="horz" wrap="square" rtlCol="0" anchor="ctr" anchorCtr="0">
            <a:spAutoFit/>
          </a:bodyPr>
          <a:lstStyle/>
          <a:p>
            <a:pPr algn="ctr"/>
            <a:r>
              <a:rPr lang="en-US" sz="2500" b="1" dirty="0">
                <a:solidFill>
                  <a:srgbClr val="FFFFFF"/>
                </a:solidFill>
              </a:rPr>
              <a:t>Existing Work</a:t>
            </a:r>
          </a:p>
        </p:txBody>
      </p:sp>
      <p:sp>
        <p:nvSpPr>
          <p:cNvPr id="12" name="EWContent">
            <a:extLst>
              <a:ext uri="{FF2B5EF4-FFF2-40B4-BE49-F238E27FC236}">
                <a16:creationId xmlns:a16="http://schemas.microsoft.com/office/drawing/2014/main" id="{056F554A-E70E-409C-8195-D30CF81BE57E}"/>
              </a:ext>
            </a:extLst>
          </p:cNvPr>
          <p:cNvSpPr txBox="1"/>
          <p:nvPr/>
        </p:nvSpPr>
        <p:spPr>
          <a:xfrm>
            <a:off x="254000" y="4889500"/>
            <a:ext cx="11684000" cy="1823576"/>
          </a:xfrm>
          <a:prstGeom prst="rect">
            <a:avLst/>
          </a:prstGeom>
          <a:noFill/>
        </p:spPr>
        <p:txBody>
          <a:bodyPr vertOverflow="overflow" vert="horz" wrap="square" rtlCol="0" anchor="t">
            <a:spAutoFit/>
          </a:bodyPr>
          <a:lstStyle/>
          <a:p>
            <a:pPr algn="just">
              <a:lnSpc>
                <a:spcPts val="1320"/>
              </a:lnSpc>
              <a:spcBef>
                <a:spcPts val="300"/>
              </a:spcBef>
              <a:spcAft>
                <a:spcPts val="0"/>
              </a:spcAft>
            </a:pPr>
            <a:r>
              <a:rPr lang="en-US" sz="1100" b="1" dirty="0"/>
              <a:t>Chokkalingam &amp; Ganesan (2026) - </a:t>
            </a:r>
            <a:r>
              <a:rPr lang="en-US" sz="1100" b="1" i="1" dirty="0"/>
              <a:t>RAIRO-Oper. Res.</a:t>
            </a:r>
            <a:r>
              <a:rPr lang="en-US" sz="1100" b="1" dirty="0"/>
              <a:t>:</a:t>
            </a:r>
            <a:r>
              <a:rPr lang="en-US" sz="900" dirty="0">
                <a:solidFill>
                  <a:srgbClr val="4472C4"/>
                </a:solidFill>
                <a:uFill>
                  <a:solidFill>
                    <a:srgbClr val="4472C4"/>
                  </a:solidFill>
                </a:uFill>
              </a:rPr>
              <a:t> </a:t>
            </a:r>
            <a:r>
              <a:rPr lang="en-US" sz="900" dirty="0">
                <a:solidFill>
                  <a:srgbClr val="4472C4"/>
                </a:solidFill>
                <a:uFill>
                  <a:solidFill>
                    <a:srgbClr val="4472C4"/>
                  </a:solidFill>
                </a:uFill>
                <a:hlinkClick r:id="rId3"/>
              </a:rPr>
              <a:t>https://doi.org/10.1051/ro/2025159</a:t>
            </a:r>
            <a:endParaRPr lang="en-US" sz="900" dirty="0">
              <a:solidFill>
                <a:srgbClr val="4472C4"/>
              </a:solidFill>
              <a:uFill>
                <a:solidFill>
                  <a:srgbClr val="4472C4"/>
                </a:solidFill>
              </a:uFill>
            </a:endParaRPr>
          </a:p>
          <a:p>
            <a:pPr marL="171450" indent="-171450" algn="just">
              <a:lnSpc>
                <a:spcPts val="1320"/>
              </a:lnSpc>
              <a:spcBef>
                <a:spcPts val="150"/>
              </a:spcBef>
              <a:spcAft>
                <a:spcPts val="0"/>
              </a:spcAft>
              <a:buFont typeface="Arial"/>
              <a:buChar char="○"/>
            </a:pPr>
            <a:r>
              <a:rPr lang="en-US" sz="1100" b="1" dirty="0"/>
              <a:t>Technique: </a:t>
            </a:r>
            <a:r>
              <a:rPr lang="en-US" sz="1100" dirty="0"/>
              <a:t>Multi-objective UAV path planning using adaptive constraint handling with entropy-based criteria to select solutions from the Pareto front.</a:t>
            </a:r>
          </a:p>
          <a:p>
            <a:pPr marL="171450" indent="-171450" algn="just">
              <a:lnSpc>
                <a:spcPts val="1320"/>
              </a:lnSpc>
              <a:spcBef>
                <a:spcPts val="150"/>
              </a:spcBef>
              <a:spcAft>
                <a:spcPts val="0"/>
              </a:spcAft>
              <a:buFont typeface="Arial"/>
              <a:buChar char="○"/>
            </a:pPr>
            <a:r>
              <a:rPr lang="en-US" sz="1100" b="1" dirty="0"/>
              <a:t>Limitation: </a:t>
            </a:r>
            <a:r>
              <a:rPr lang="en-US" sz="1100" dirty="0"/>
              <a:t>Entropy criterion selects solutions based on front diversity alone; payload metadata (fragility, urgency, thermal sensitivity) is never incorporated into the selection process.</a:t>
            </a:r>
          </a:p>
          <a:p>
            <a:pPr algn="just">
              <a:lnSpc>
                <a:spcPts val="1320"/>
              </a:lnSpc>
              <a:spcBef>
                <a:spcPts val="300"/>
              </a:spcBef>
              <a:spcAft>
                <a:spcPts val="0"/>
              </a:spcAft>
            </a:pPr>
            <a:r>
              <a:rPr lang="en-US" sz="1100" b="1" dirty="0"/>
              <a:t>Datsko et al. (2024) - </a:t>
            </a:r>
            <a:r>
              <a:rPr lang="en-US" sz="1100" b="1" i="1" dirty="0"/>
              <a:t>IEEE RA-L</a:t>
            </a:r>
            <a:r>
              <a:rPr lang="en-US" sz="1100" b="1" dirty="0"/>
              <a:t>:</a:t>
            </a:r>
            <a:r>
              <a:rPr lang="en-US" sz="900" dirty="0">
                <a:solidFill>
                  <a:srgbClr val="4472C4"/>
                </a:solidFill>
                <a:uFill>
                  <a:solidFill>
                    <a:srgbClr val="4472C4"/>
                  </a:solidFill>
                </a:uFill>
              </a:rPr>
              <a:t> </a:t>
            </a:r>
            <a:r>
              <a:rPr lang="en-US" sz="900" dirty="0">
                <a:solidFill>
                  <a:srgbClr val="4472C4"/>
                </a:solidFill>
                <a:uFill>
                  <a:solidFill>
                    <a:srgbClr val="4472C4"/>
                  </a:solidFill>
                </a:uFill>
                <a:hlinkClick r:id="rId4"/>
              </a:rPr>
              <a:t>https://ieeexplore.ieee.org/document/10414185</a:t>
            </a:r>
            <a:endParaRPr lang="en-US" sz="900" dirty="0">
              <a:solidFill>
                <a:srgbClr val="4472C4"/>
              </a:solidFill>
              <a:uFill>
                <a:solidFill>
                  <a:srgbClr val="4472C4"/>
                </a:solidFill>
              </a:uFill>
            </a:endParaRPr>
          </a:p>
          <a:p>
            <a:pPr marL="171450" indent="-171450" algn="just">
              <a:lnSpc>
                <a:spcPts val="1320"/>
              </a:lnSpc>
              <a:spcBef>
                <a:spcPts val="150"/>
              </a:spcBef>
              <a:spcAft>
                <a:spcPts val="0"/>
              </a:spcAft>
              <a:buFont typeface="Arial"/>
              <a:buChar char="○"/>
            </a:pPr>
            <a:r>
              <a:rPr lang="en-US" sz="1100" b="1" dirty="0"/>
              <a:t>Technique: </a:t>
            </a:r>
            <a:r>
              <a:rPr lang="en-US" sz="1100" dirty="0"/>
              <a:t>Diversity-driven Pareto selection for UAV routing, optimising geometric spread of candidate solutions across the multi-objective space.</a:t>
            </a:r>
          </a:p>
          <a:p>
            <a:pPr marL="171450" indent="-171450" algn="just">
              <a:lnSpc>
                <a:spcPts val="1320"/>
              </a:lnSpc>
              <a:spcBef>
                <a:spcPts val="150"/>
              </a:spcBef>
              <a:spcAft>
                <a:spcPts val="0"/>
              </a:spcAft>
              <a:buFont typeface="Arial"/>
              <a:buChar char="○"/>
            </a:pPr>
            <a:r>
              <a:rPr lang="en-US" sz="1100" b="1" dirty="0"/>
              <a:t>Limitation: </a:t>
            </a:r>
            <a:r>
              <a:rPr lang="en-US" sz="1100" dirty="0"/>
              <a:t>Selection is guided entirely by solution diversity; delivery context such as payload type, time-window, or priority class has no influence on which route is chosen.</a:t>
            </a:r>
          </a:p>
          <a:p>
            <a:pPr algn="just">
              <a:lnSpc>
                <a:spcPts val="1320"/>
              </a:lnSpc>
              <a:spcBef>
                <a:spcPts val="300"/>
              </a:spcBef>
              <a:spcAft>
                <a:spcPts val="0"/>
              </a:spcAft>
            </a:pPr>
            <a:r>
              <a:rPr lang="en-US" sz="1100" b="1" dirty="0" err="1"/>
              <a:t>Ntakolia</a:t>
            </a:r>
            <a:r>
              <a:rPr lang="en-US" sz="1100" b="1" dirty="0"/>
              <a:t> et al. (2023) - </a:t>
            </a:r>
            <a:r>
              <a:rPr lang="en-US" sz="1100" b="1" i="1" dirty="0"/>
              <a:t>J. Intell. Robot. Syst.</a:t>
            </a:r>
            <a:r>
              <a:rPr lang="en-US" sz="1100" b="1" dirty="0"/>
              <a:t>:</a:t>
            </a:r>
            <a:r>
              <a:rPr lang="en-US" sz="900" dirty="0">
                <a:solidFill>
                  <a:srgbClr val="4472C4"/>
                </a:solidFill>
                <a:uFill>
                  <a:solidFill>
                    <a:srgbClr val="4472C4"/>
                  </a:solidFill>
                </a:uFill>
              </a:rPr>
              <a:t> </a:t>
            </a:r>
            <a:r>
              <a:rPr lang="en-US" sz="900" dirty="0">
                <a:solidFill>
                  <a:srgbClr val="4472C4"/>
                </a:solidFill>
                <a:uFill>
                  <a:solidFill>
                    <a:srgbClr val="4472C4"/>
                  </a:solidFill>
                </a:uFill>
                <a:hlinkClick r:id="rId5"/>
              </a:rPr>
              <a:t>https://doi.org/10.1007/s10846-023-01945-9</a:t>
            </a:r>
            <a:endParaRPr lang="en-US" sz="900" dirty="0">
              <a:solidFill>
                <a:srgbClr val="4472C4"/>
              </a:solidFill>
              <a:uFill>
                <a:solidFill>
                  <a:srgbClr val="4472C4"/>
                </a:solidFill>
              </a:uFill>
            </a:endParaRPr>
          </a:p>
          <a:p>
            <a:pPr marL="171450" indent="-171450" algn="just">
              <a:lnSpc>
                <a:spcPts val="1320"/>
              </a:lnSpc>
              <a:spcBef>
                <a:spcPts val="150"/>
              </a:spcBef>
              <a:spcAft>
                <a:spcPts val="0"/>
              </a:spcAft>
              <a:buFont typeface="Arial"/>
              <a:buChar char="○"/>
            </a:pPr>
            <a:r>
              <a:rPr lang="en-US" sz="1100" b="1" dirty="0"/>
              <a:t>Technique: </a:t>
            </a:r>
            <a:r>
              <a:rPr lang="en-US" sz="1100" dirty="0"/>
              <a:t>Crowding-distance-based Pareto point selection within a multi-objective UAV path planner to maximise solution spread across objective space.</a:t>
            </a:r>
          </a:p>
          <a:p>
            <a:pPr marL="171450" indent="-171450" algn="just">
              <a:lnSpc>
                <a:spcPts val="1320"/>
              </a:lnSpc>
              <a:spcBef>
                <a:spcPts val="150"/>
              </a:spcBef>
              <a:spcAft>
                <a:spcPts val="0"/>
              </a:spcAft>
              <a:buFont typeface="Arial"/>
              <a:buChar char="○"/>
            </a:pPr>
            <a:r>
              <a:rPr lang="en-US" sz="1100" b="1" dirty="0"/>
              <a:t>Limitation: </a:t>
            </a:r>
            <a:r>
              <a:rPr lang="en-US" sz="1100" dirty="0"/>
              <a:t>Crowding distance cannot encode mission-specific requirements; payload fragility, temperature sensitivity, or urgency class cannot influence route selection at any stage.</a:t>
            </a:r>
          </a:p>
        </p:txBody>
      </p:sp>
    </p:spTree>
    <p:extLst>
      <p:ext uri="{BB962C8B-B14F-4D97-AF65-F5344CB8AC3E}">
        <p14:creationId xmlns:p14="http://schemas.microsoft.com/office/powerpoint/2010/main" val="855153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42A3C042-FD74-4E9E-A6AA-CBB9F343BCEE}"/>
              </a:ext>
            </a:extLst>
          </p:cNvPr>
          <p:cNvSpPr/>
          <p:nvPr/>
        </p:nvSpPr>
        <p:spPr>
          <a:xfrm>
            <a:off x="0" y="0"/>
            <a:ext cx="12192000" cy="584200"/>
          </a:xfrm>
          <a:prstGeom prst="rect">
            <a:avLst/>
          </a:prstGeom>
          <a:solidFill>
            <a:srgbClr val="00206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BandTitle">
            <a:extLst>
              <a:ext uri="{FF2B5EF4-FFF2-40B4-BE49-F238E27FC236}">
                <a16:creationId xmlns:a16="http://schemas.microsoft.com/office/drawing/2014/main" id="{0A7AB6F0-F355-440B-9CB6-73F17E493BBE}"/>
              </a:ext>
            </a:extLst>
          </p:cNvPr>
          <p:cNvSpPr txBox="1"/>
          <p:nvPr/>
        </p:nvSpPr>
        <p:spPr>
          <a:xfrm>
            <a:off x="254000" y="53573"/>
            <a:ext cx="11684000" cy="477054"/>
          </a:xfrm>
          <a:prstGeom prst="rect">
            <a:avLst/>
          </a:prstGeom>
          <a:noFill/>
        </p:spPr>
        <p:txBody>
          <a:bodyPr vertOverflow="overflow" vert="horz" wrap="square" rtlCol="0" anchor="ctr" anchorCtr="0">
            <a:spAutoFit/>
          </a:bodyPr>
          <a:lstStyle/>
          <a:p>
            <a:pPr algn="ctr"/>
            <a:r>
              <a:rPr lang="en-IN" sz="2500" b="1" dirty="0">
                <a:solidFill>
                  <a:srgbClr val="FFFFFF"/>
                </a:solidFill>
              </a:rPr>
              <a:t>Proposed Work</a:t>
            </a:r>
          </a:p>
        </p:txBody>
      </p:sp>
      <p:sp>
        <p:nvSpPr>
          <p:cNvPr id="4" name="POHeader">
            <a:extLst>
              <a:ext uri="{FF2B5EF4-FFF2-40B4-BE49-F238E27FC236}">
                <a16:creationId xmlns:a16="http://schemas.microsoft.com/office/drawing/2014/main" id="{530719B9-AE66-4185-9275-076B20CF4135}"/>
              </a:ext>
            </a:extLst>
          </p:cNvPr>
          <p:cNvSpPr txBox="1"/>
          <p:nvPr/>
        </p:nvSpPr>
        <p:spPr>
          <a:xfrm>
            <a:off x="254000" y="671240"/>
            <a:ext cx="5715000" cy="384721"/>
          </a:xfrm>
          <a:prstGeom prst="rect">
            <a:avLst/>
          </a:prstGeom>
          <a:noFill/>
        </p:spPr>
        <p:txBody>
          <a:bodyPr vertOverflow="overflow" vert="horz" wrap="square" rtlCol="0" anchor="ctr" anchorCtr="0">
            <a:spAutoFit/>
          </a:bodyPr>
          <a:lstStyle/>
          <a:p>
            <a:pPr algn="ctr"/>
            <a:r>
              <a:rPr lang="en-IN" sz="1900" b="1" dirty="0">
                <a:solidFill>
                  <a:srgbClr val="002060"/>
                </a:solidFill>
              </a:rPr>
              <a:t>Project Objectives</a:t>
            </a:r>
          </a:p>
        </p:txBody>
      </p:sp>
      <p:sp>
        <p:nvSpPr>
          <p:cNvPr id="5" name="ROHeader">
            <a:extLst>
              <a:ext uri="{FF2B5EF4-FFF2-40B4-BE49-F238E27FC236}">
                <a16:creationId xmlns:a16="http://schemas.microsoft.com/office/drawing/2014/main" id="{88306802-841D-4F57-AC42-F0F319E69EB8}"/>
              </a:ext>
            </a:extLst>
          </p:cNvPr>
          <p:cNvSpPr txBox="1"/>
          <p:nvPr/>
        </p:nvSpPr>
        <p:spPr>
          <a:xfrm>
            <a:off x="6223000" y="671240"/>
            <a:ext cx="5715000" cy="384721"/>
          </a:xfrm>
          <a:prstGeom prst="rect">
            <a:avLst/>
          </a:prstGeom>
          <a:noFill/>
        </p:spPr>
        <p:txBody>
          <a:bodyPr vertOverflow="overflow" vert="horz" wrap="square" rtlCol="0" anchor="ctr" anchorCtr="0">
            <a:spAutoFit/>
          </a:bodyPr>
          <a:lstStyle/>
          <a:p>
            <a:pPr algn="ctr"/>
            <a:r>
              <a:rPr lang="en-IN" sz="1900" b="1">
                <a:solidFill>
                  <a:srgbClr val="002060"/>
                </a:solidFill>
              </a:rPr>
              <a:t>Research Objectives</a:t>
            </a:r>
          </a:p>
        </p:txBody>
      </p:sp>
      <p:sp>
        <p:nvSpPr>
          <p:cNvPr id="6" name="POContent">
            <a:extLst>
              <a:ext uri="{FF2B5EF4-FFF2-40B4-BE49-F238E27FC236}">
                <a16:creationId xmlns:a16="http://schemas.microsoft.com/office/drawing/2014/main" id="{72447C3C-72D9-46B0-BE4B-5B69585E5B02}"/>
              </a:ext>
            </a:extLst>
          </p:cNvPr>
          <p:cNvSpPr txBox="1"/>
          <p:nvPr/>
        </p:nvSpPr>
        <p:spPr>
          <a:xfrm>
            <a:off x="254000" y="1066800"/>
            <a:ext cx="5715000" cy="2708434"/>
          </a:xfrm>
          <a:prstGeom prst="rect">
            <a:avLst/>
          </a:prstGeom>
          <a:noFill/>
        </p:spPr>
        <p:txBody>
          <a:bodyPr vertOverflow="overflow" vert="horz" wrap="square" rtlCol="0" anchor="t">
            <a:spAutoFit/>
          </a:bodyPr>
          <a:lstStyle/>
          <a:p>
            <a:pPr marL="171450" indent="-171450" algn="just">
              <a:lnSpc>
                <a:spcPts val="1320"/>
              </a:lnSpc>
              <a:spcBef>
                <a:spcPts val="300"/>
              </a:spcBef>
              <a:spcAft>
                <a:spcPts val="0"/>
              </a:spcAft>
              <a:buFont typeface="Arial"/>
              <a:buChar char="•"/>
            </a:pPr>
            <a:r>
              <a:rPr lang="en-US" sz="1100" b="1" dirty="0"/>
              <a:t>Tier 1 - Deterministic Pareto Front Construction: </a:t>
            </a:r>
            <a:r>
              <a:rPr lang="en-US" sz="1100" dirty="0"/>
              <a:t>Implement a multi-objective A*/Dijkstra graph-search that pre-computes and stores a well-distributed Pareto-optimal set of routes across route distance, energy consumption, and flight risk for a defined delivery region; the front is reused across successive missions without re-running the planner.</a:t>
            </a:r>
          </a:p>
          <a:p>
            <a:pPr marL="171450" indent="-171450" algn="just">
              <a:lnSpc>
                <a:spcPts val="1320"/>
              </a:lnSpc>
              <a:spcBef>
                <a:spcPts val="300"/>
              </a:spcBef>
              <a:spcAft>
                <a:spcPts val="0"/>
              </a:spcAft>
              <a:buFont typeface="Arial"/>
              <a:buChar char="•"/>
            </a:pPr>
            <a:r>
              <a:rPr lang="en-US" sz="1100" b="1" dirty="0"/>
              <a:t>Tier 2 - Payload-Driven Pareto Selection: </a:t>
            </a:r>
            <a:r>
              <a:rPr lang="en-US" sz="1100" dirty="0"/>
              <a:t>Implement a structured payload metadata interpreter that reads four operator-assigned tags (fragility class, temperature sensitivity, delivery time-window, priority level) and maps them to a single Pareto-front point autonomously no weight re-tuning at any stage.</a:t>
            </a:r>
          </a:p>
          <a:p>
            <a:pPr marL="171450" indent="-171450" algn="just">
              <a:lnSpc>
                <a:spcPts val="1320"/>
              </a:lnSpc>
              <a:spcBef>
                <a:spcPts val="300"/>
              </a:spcBef>
              <a:spcAft>
                <a:spcPts val="0"/>
              </a:spcAft>
              <a:buFont typeface="Arial"/>
              <a:buChar char="•"/>
            </a:pPr>
            <a:r>
              <a:rPr lang="en-US" sz="1100" b="1" dirty="0"/>
              <a:t>Ground-Station Dashboard: </a:t>
            </a:r>
            <a:r>
              <a:rPr lang="en-US" sz="1100" dirty="0"/>
              <a:t>Build an operator interface where a payload tag is entered once and a ready-to-fly mission file (compatible with ArduPilot Mission Planner) is generated without further manual input.</a:t>
            </a:r>
          </a:p>
          <a:p>
            <a:pPr marL="171450" indent="-171450" algn="just">
              <a:lnSpc>
                <a:spcPts val="1320"/>
              </a:lnSpc>
              <a:spcBef>
                <a:spcPts val="300"/>
              </a:spcBef>
              <a:spcAft>
                <a:spcPts val="0"/>
              </a:spcAft>
              <a:buFont typeface="Arial"/>
              <a:buChar char="•"/>
            </a:pPr>
            <a:r>
              <a:rPr lang="en-US" sz="1100" b="1" dirty="0"/>
              <a:t>Hardware Validation: </a:t>
            </a:r>
            <a:r>
              <a:rPr lang="en-US" sz="1100" dirty="0"/>
              <a:t>Demonstrate the end-to-end pipeline on a quadcopter UAV through real outdoor flight tests, measuring route adherence and end-to-end latency from payload tagging to mission execution.</a:t>
            </a:r>
          </a:p>
        </p:txBody>
      </p:sp>
      <p:sp>
        <p:nvSpPr>
          <p:cNvPr id="7" name="ROContent">
            <a:extLst>
              <a:ext uri="{FF2B5EF4-FFF2-40B4-BE49-F238E27FC236}">
                <a16:creationId xmlns:a16="http://schemas.microsoft.com/office/drawing/2014/main" id="{0ECDDDF4-DE05-4BA9-A348-3FB30A4CDA35}"/>
              </a:ext>
            </a:extLst>
          </p:cNvPr>
          <p:cNvSpPr txBox="1"/>
          <p:nvPr/>
        </p:nvSpPr>
        <p:spPr>
          <a:xfrm>
            <a:off x="6223000" y="1066800"/>
            <a:ext cx="5715000" cy="3118803"/>
          </a:xfrm>
          <a:prstGeom prst="rect">
            <a:avLst/>
          </a:prstGeom>
          <a:noFill/>
        </p:spPr>
        <p:txBody>
          <a:bodyPr vertOverflow="overflow" vert="horz" wrap="square" rtlCol="0" anchor="t">
            <a:spAutoFit/>
          </a:bodyPr>
          <a:lstStyle/>
          <a:p>
            <a:pPr marL="171450" indent="-171450" algn="just">
              <a:lnSpc>
                <a:spcPts val="1320"/>
              </a:lnSpc>
              <a:spcBef>
                <a:spcPts val="300"/>
              </a:spcBef>
              <a:spcAft>
                <a:spcPts val="0"/>
              </a:spcAft>
              <a:buFont typeface="Arial"/>
              <a:buChar char="•"/>
            </a:pPr>
            <a:r>
              <a:rPr lang="en-US" sz="1100" dirty="0"/>
              <a:t>Formulate multi-objective UAV route planning as a structured </a:t>
            </a:r>
            <a:r>
              <a:rPr lang="en-US" sz="1100" b="1" dirty="0"/>
              <a:t>Pareto front pre-computation</a:t>
            </a:r>
            <a:r>
              <a:rPr lang="en-US" sz="1100" dirty="0"/>
              <a:t> problem over a delivery airspace graph, theoretically distinguishing the deterministic graph-search approach from stochastic population-based alternatives</a:t>
            </a:r>
          </a:p>
          <a:p>
            <a:pPr marL="171450" indent="-171450" algn="just">
              <a:lnSpc>
                <a:spcPts val="1320"/>
              </a:lnSpc>
              <a:spcBef>
                <a:spcPts val="300"/>
              </a:spcBef>
              <a:spcAft>
                <a:spcPts val="0"/>
              </a:spcAft>
              <a:buFont typeface="Arial"/>
              <a:buChar char="•"/>
            </a:pPr>
            <a:r>
              <a:rPr lang="en-US" sz="1100" dirty="0"/>
              <a:t>Design a </a:t>
            </a:r>
            <a:r>
              <a:rPr lang="en-US" sz="1100" b="1" dirty="0"/>
              <a:t>payload metadata schema</a:t>
            </a:r>
            <a:r>
              <a:rPr lang="en-US" sz="1100" dirty="0"/>
              <a:t> and a principled rule-based mapping that translates mission context (fragility, urgency, thermal constraints) into Pareto point selection without any expert weight tuning.</a:t>
            </a:r>
          </a:p>
          <a:p>
            <a:pPr marL="171450" indent="-171450" algn="just">
              <a:lnSpc>
                <a:spcPts val="1320"/>
              </a:lnSpc>
              <a:spcBef>
                <a:spcPts val="300"/>
              </a:spcBef>
              <a:spcAft>
                <a:spcPts val="0"/>
              </a:spcAft>
              <a:buFont typeface="Arial"/>
              <a:buChar char="•"/>
            </a:pPr>
            <a:r>
              <a:rPr lang="en-US" sz="1100" b="1" dirty="0"/>
              <a:t>Benchmark Tier 1</a:t>
            </a:r>
            <a:r>
              <a:rPr lang="en-US" sz="1100" dirty="0"/>
              <a:t> route quality and Pareto front coverage against single-objective A* and MOPSO baselines on identical delivery scenarios, measuring hypervolume and Pareto spread.</a:t>
            </a:r>
          </a:p>
          <a:p>
            <a:pPr marL="171450" indent="-171450" algn="just">
              <a:lnSpc>
                <a:spcPts val="1320"/>
              </a:lnSpc>
              <a:spcBef>
                <a:spcPts val="300"/>
              </a:spcBef>
              <a:spcAft>
                <a:spcPts val="0"/>
              </a:spcAft>
              <a:buFont typeface="Arial"/>
              <a:buChar char="•"/>
            </a:pPr>
            <a:r>
              <a:rPr lang="en-US" sz="1100" b="1" dirty="0"/>
              <a:t>Quantify Tier 2 selection accuracy </a:t>
            </a:r>
            <a:r>
              <a:rPr lang="en-US" sz="1100" dirty="0"/>
              <a:t>by measuring alignment between selected route characteristics and payload tag requirements across diverse mission types (medical sample, emergency medicine, disaster relief supplies).</a:t>
            </a:r>
          </a:p>
          <a:p>
            <a:pPr marL="171450" indent="-171450" algn="just">
              <a:lnSpc>
                <a:spcPts val="1320"/>
              </a:lnSpc>
              <a:spcBef>
                <a:spcPts val="300"/>
              </a:spcBef>
              <a:spcAft>
                <a:spcPts val="0"/>
              </a:spcAft>
              <a:buFont typeface="Arial"/>
              <a:buChar char="•"/>
            </a:pPr>
            <a:endParaRPr lang="en-US" sz="1100" dirty="0"/>
          </a:p>
          <a:p>
            <a:pPr marL="171450" indent="-171450" algn="just">
              <a:lnSpc>
                <a:spcPts val="1320"/>
              </a:lnSpc>
              <a:spcBef>
                <a:spcPts val="300"/>
              </a:spcBef>
              <a:spcAft>
                <a:spcPts val="0"/>
              </a:spcAft>
              <a:buFont typeface="Arial"/>
              <a:buChar char="•"/>
            </a:pPr>
            <a:r>
              <a:rPr lang="en-US" sz="1100" b="1" dirty="0"/>
              <a:t>Novelty:</a:t>
            </a:r>
            <a:r>
              <a:rPr lang="en-US" sz="1100" dirty="0"/>
              <a:t> </a:t>
            </a:r>
            <a:r>
              <a:rPr lang="en-IN" sz="1100" dirty="0"/>
              <a:t>The system uses </a:t>
            </a:r>
            <a:r>
              <a:rPr lang="en-IN" sz="1100" b="1" dirty="0"/>
              <a:t>payload metadata as the sole input to Pareto point selection</a:t>
            </a:r>
            <a:r>
              <a:rPr lang="en-IN" sz="1100" dirty="0"/>
              <a:t>, replacing entropy and diversity-based criteria that are blind to delivery context, with a deterministic graph-search Pareto front pre-computed once and reused across all missions.</a:t>
            </a:r>
          </a:p>
        </p:txBody>
      </p:sp>
      <p:sp>
        <p:nvSpPr>
          <p:cNvPr id="8" name="FeasBand">
            <a:extLst>
              <a:ext uri="{FF2B5EF4-FFF2-40B4-BE49-F238E27FC236}">
                <a16:creationId xmlns:a16="http://schemas.microsoft.com/office/drawing/2014/main" id="{62F9A38E-9DF4-4A54-8AF6-363FD9E0102B}"/>
              </a:ext>
            </a:extLst>
          </p:cNvPr>
          <p:cNvSpPr/>
          <p:nvPr/>
        </p:nvSpPr>
        <p:spPr>
          <a:xfrm>
            <a:off x="0" y="4406900"/>
            <a:ext cx="12192000" cy="508000"/>
          </a:xfrm>
          <a:prstGeom prst="rect">
            <a:avLst/>
          </a:prstGeom>
          <a:solidFill>
            <a:srgbClr val="00206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FeasTitle">
            <a:extLst>
              <a:ext uri="{FF2B5EF4-FFF2-40B4-BE49-F238E27FC236}">
                <a16:creationId xmlns:a16="http://schemas.microsoft.com/office/drawing/2014/main" id="{E7A1EA0F-1B87-4E51-B4A4-B997A19199A5}"/>
              </a:ext>
            </a:extLst>
          </p:cNvPr>
          <p:cNvSpPr txBox="1"/>
          <p:nvPr/>
        </p:nvSpPr>
        <p:spPr>
          <a:xfrm>
            <a:off x="254000" y="4422140"/>
            <a:ext cx="11684000" cy="477520"/>
          </a:xfrm>
          <a:prstGeom prst="rect">
            <a:avLst/>
          </a:prstGeom>
          <a:noFill/>
        </p:spPr>
        <p:txBody>
          <a:bodyPr vertOverflow="overflow" vert="horz" wrap="square" rtlCol="0" anchor="ctr" anchorCtr="0">
            <a:spAutoFit/>
          </a:bodyPr>
          <a:lstStyle/>
          <a:p>
            <a:pPr algn="ctr"/>
            <a:r>
              <a:rPr lang="en-IN" sz="2500" b="1" dirty="0">
                <a:solidFill>
                  <a:srgbClr val="FFFFFF"/>
                </a:solidFill>
              </a:rPr>
              <a:t>Feasibility</a:t>
            </a:r>
          </a:p>
        </p:txBody>
      </p:sp>
      <p:sp>
        <p:nvSpPr>
          <p:cNvPr id="10" name="FeasContent">
            <a:extLst>
              <a:ext uri="{FF2B5EF4-FFF2-40B4-BE49-F238E27FC236}">
                <a16:creationId xmlns:a16="http://schemas.microsoft.com/office/drawing/2014/main" id="{F1A77C67-7783-42E3-A694-494183C24569}"/>
              </a:ext>
            </a:extLst>
          </p:cNvPr>
          <p:cNvSpPr txBox="1"/>
          <p:nvPr/>
        </p:nvSpPr>
        <p:spPr>
          <a:xfrm>
            <a:off x="254000" y="5010209"/>
            <a:ext cx="11684000" cy="1615827"/>
          </a:xfrm>
          <a:prstGeom prst="rect">
            <a:avLst/>
          </a:prstGeom>
          <a:noFill/>
        </p:spPr>
        <p:txBody>
          <a:bodyPr vertOverflow="overflow" vert="horz" wrap="square" rtlCol="0" anchor="t">
            <a:spAutoFit/>
          </a:bodyPr>
          <a:lstStyle/>
          <a:p>
            <a:pPr marL="171450" lvl="0" indent="-171450">
              <a:buFont typeface="Arial" panose="020B0604020202020204" pitchFamily="34" charset="0"/>
              <a:buChar char="•"/>
            </a:pPr>
            <a:r>
              <a:rPr lang="en-IN" sz="1100" b="1" dirty="0"/>
              <a:t>Tools &amp; Software Stack:</a:t>
            </a:r>
            <a:r>
              <a:rPr lang="en-IN" sz="1100" dirty="0"/>
              <a:t> Python (</a:t>
            </a:r>
            <a:r>
              <a:rPr lang="en-IN" sz="1100" dirty="0" err="1"/>
              <a:t>NetworkX</a:t>
            </a:r>
            <a:r>
              <a:rPr lang="en-IN" sz="1100" dirty="0"/>
              <a:t> for graph-search, NumPy for objective computation, Matplotlib for Pareto front visualisation), </a:t>
            </a:r>
            <a:r>
              <a:rPr lang="en-IN" sz="1100" dirty="0" err="1"/>
              <a:t>ArduPilot</a:t>
            </a:r>
            <a:r>
              <a:rPr lang="en-IN" sz="1100" dirty="0"/>
              <a:t> / Mission Planner for UAV mission upload, </a:t>
            </a:r>
            <a:r>
              <a:rPr lang="en-IN" sz="1100" dirty="0" err="1"/>
              <a:t>MAVLink</a:t>
            </a:r>
            <a:r>
              <a:rPr lang="en-IN" sz="1100" dirty="0"/>
              <a:t> for ground-to-UAV communication, and a lightweight </a:t>
            </a:r>
            <a:r>
              <a:rPr lang="en-IN" sz="1100" dirty="0" err="1"/>
              <a:t>Tkinter</a:t>
            </a:r>
            <a:r>
              <a:rPr lang="en-IN" sz="1100" dirty="0"/>
              <a:t> or React dashboard for the operator </a:t>
            </a:r>
          </a:p>
          <a:p>
            <a:pPr marL="171450" lvl="0" indent="-171450">
              <a:buFont typeface="Arial" panose="020B0604020202020204" pitchFamily="34" charset="0"/>
              <a:buChar char="•"/>
            </a:pPr>
            <a:r>
              <a:rPr lang="en-IN" sz="1100" b="1" dirty="0"/>
              <a:t>Hardware:</a:t>
            </a:r>
            <a:r>
              <a:rPr lang="en-IN" sz="1100" dirty="0"/>
              <a:t> Quadcopter UAV with Pixhawk flight </a:t>
            </a:r>
          </a:p>
          <a:p>
            <a:pPr marL="171450" lvl="0" indent="-171450">
              <a:buFont typeface="Arial" panose="020B0604020202020204" pitchFamily="34" charset="0"/>
              <a:buChar char="•"/>
            </a:pPr>
            <a:r>
              <a:rPr lang="en-IN" sz="1100" b="1" dirty="0"/>
              <a:t>Datasets:</a:t>
            </a:r>
            <a:r>
              <a:rPr lang="en-IN" sz="1100" dirty="0"/>
              <a:t> Delivery region airspace graph constructed from OpenStreetMap and satellite imagery; obstacle and threat distributions simulated programmatically for controlled, reproducible benchmarking across all baseline comparisons.</a:t>
            </a:r>
          </a:p>
          <a:p>
            <a:pPr marL="171450" lvl="0" indent="-171450">
              <a:buFont typeface="Arial" panose="020B0604020202020204" pitchFamily="34" charset="0"/>
              <a:buChar char="•"/>
            </a:pPr>
            <a:r>
              <a:rPr lang="en-IN" sz="1100" b="1" dirty="0"/>
              <a:t>Compute:</a:t>
            </a:r>
            <a:r>
              <a:rPr lang="en-IN" sz="1100" dirty="0"/>
              <a:t> Tier 1 graph-search pre-computation runs entirely on a standard laptop with no GPU or cloud dependency; Tier 2 metadata-to-Pareto mapping is a near-instantaneous rule lookup with negligible compute cost.</a:t>
            </a:r>
          </a:p>
          <a:p>
            <a:pPr marL="171450" lvl="0" indent="-171450">
              <a:buFont typeface="Arial" panose="020B0604020202020204" pitchFamily="34" charset="0"/>
              <a:buChar char="•"/>
            </a:pPr>
            <a:r>
              <a:rPr lang="en-IN" sz="1100" b="1" dirty="0"/>
              <a:t>Risks &amp; Mitigations:</a:t>
            </a:r>
            <a:r>
              <a:rPr lang="en-IN" sz="1100" dirty="0"/>
              <a:t> All algorithm validation and baseline benchmarking is completed through </a:t>
            </a:r>
            <a:r>
              <a:rPr lang="en-IN" sz="1100" dirty="0" err="1"/>
              <a:t>ArduPilot</a:t>
            </a:r>
            <a:r>
              <a:rPr lang="en-IN" sz="1100" dirty="0"/>
              <a:t> SITL (software-in-the-loop simulation) first, so real flight tests serve as confirmation of an already-validated system rather than the primary evaluation environment.</a:t>
            </a:r>
          </a:p>
        </p:txBody>
      </p:sp>
    </p:spTree>
    <p:extLst>
      <p:ext uri="{BB962C8B-B14F-4D97-AF65-F5344CB8AC3E}">
        <p14:creationId xmlns:p14="http://schemas.microsoft.com/office/powerpoint/2010/main" val="210007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7BDC9AF-DAA9-4552-B475-96DE4289852B}"/>
              </a:ext>
            </a:extLst>
          </p:cNvPr>
          <p:cNvSpPr/>
          <p:nvPr/>
        </p:nvSpPr>
        <p:spPr>
          <a:xfrm>
            <a:off x="0" y="0"/>
            <a:ext cx="12192000" cy="584200"/>
          </a:xfrm>
          <a:prstGeom prst="rect">
            <a:avLst/>
          </a:prstGeom>
          <a:solidFill>
            <a:srgbClr val="00206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BandTitle">
            <a:extLst>
              <a:ext uri="{FF2B5EF4-FFF2-40B4-BE49-F238E27FC236}">
                <a16:creationId xmlns:a16="http://schemas.microsoft.com/office/drawing/2014/main" id="{8FEF3D4C-5287-491D-9835-BABF372FE3A7}"/>
              </a:ext>
            </a:extLst>
          </p:cNvPr>
          <p:cNvSpPr txBox="1"/>
          <p:nvPr/>
        </p:nvSpPr>
        <p:spPr>
          <a:xfrm>
            <a:off x="254000" y="0"/>
            <a:ext cx="11684000" cy="584200"/>
          </a:xfrm>
          <a:prstGeom prst="rect">
            <a:avLst/>
          </a:prstGeom>
          <a:noFill/>
        </p:spPr>
        <p:txBody>
          <a:bodyPr vertOverflow="overflow" vert="horz" wrap="square" rtlCol="0" anchor="ctr" anchorCtr="0">
            <a:spAutoFit/>
          </a:bodyPr>
          <a:lstStyle/>
          <a:p>
            <a:pPr algn="ctr"/>
            <a:r>
              <a:rPr lang="en-IN" sz="2500" b="1" dirty="0">
                <a:solidFill>
                  <a:srgbClr val="FFFFFF"/>
                </a:solidFill>
              </a:rPr>
              <a:t>Project Timeline</a:t>
            </a:r>
          </a:p>
        </p:txBody>
      </p:sp>
      <p:graphicFrame>
        <p:nvGraphicFramePr>
          <p:cNvPr id="5" name="TimelineTable">
            <a:extLst>
              <a:ext uri="{FF2B5EF4-FFF2-40B4-BE49-F238E27FC236}">
                <a16:creationId xmlns:a16="http://schemas.microsoft.com/office/drawing/2014/main" id="{51DCFD60-0DF6-432F-A055-1DE5E14FAAF3}"/>
              </a:ext>
            </a:extLst>
          </p:cNvPr>
          <p:cNvGraphicFramePr>
            <a:graphicFrameLocks noGrp="1"/>
          </p:cNvGraphicFramePr>
          <p:nvPr>
            <p:extLst>
              <p:ext uri="{D42A27DB-BD31-4B8C-83A1-F6EECF244321}">
                <p14:modId xmlns:p14="http://schemas.microsoft.com/office/powerpoint/2010/main" val="1564667655"/>
              </p:ext>
            </p:extLst>
          </p:nvPr>
        </p:nvGraphicFramePr>
        <p:xfrm>
          <a:off x="762000" y="1007110"/>
          <a:ext cx="10668000" cy="526288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3053615605"/>
                    </a:ext>
                  </a:extLst>
                </a:gridCol>
                <a:gridCol w="5969000">
                  <a:extLst>
                    <a:ext uri="{9D8B030D-6E8A-4147-A177-3AD203B41FA5}">
                      <a16:colId xmlns:a16="http://schemas.microsoft.com/office/drawing/2014/main" val="2174449534"/>
                    </a:ext>
                  </a:extLst>
                </a:gridCol>
                <a:gridCol w="3302000">
                  <a:extLst>
                    <a:ext uri="{9D8B030D-6E8A-4147-A177-3AD203B41FA5}">
                      <a16:colId xmlns:a16="http://schemas.microsoft.com/office/drawing/2014/main" val="397604282"/>
                    </a:ext>
                  </a:extLst>
                </a:gridCol>
              </a:tblGrid>
              <a:tr h="508000">
                <a:tc>
                  <a:txBody>
                    <a:bodyPr/>
                    <a:lstStyle/>
                    <a:p>
                      <a:pPr algn="ctr"/>
                      <a:r>
                        <a:rPr lang="en-US" sz="1600" b="1" dirty="0">
                          <a:solidFill>
                            <a:srgbClr val="FFFFFF"/>
                          </a:solidFill>
                        </a:rPr>
                        <a:t>Quarter</a:t>
                      </a:r>
                    </a:p>
                  </a:txBody>
                  <a:tcPr anchor="ctr">
                    <a:solidFill>
                      <a:srgbClr val="002060"/>
                    </a:solidFill>
                  </a:tcPr>
                </a:tc>
                <a:tc>
                  <a:txBody>
                    <a:bodyPr/>
                    <a:lstStyle/>
                    <a:p>
                      <a:pPr algn="ctr"/>
                      <a:r>
                        <a:rPr lang="en-US" sz="1600" b="1" dirty="0">
                          <a:solidFill>
                            <a:srgbClr val="FFFFFF"/>
                          </a:solidFill>
                        </a:rPr>
                        <a:t>Key Activities</a:t>
                      </a:r>
                    </a:p>
                  </a:txBody>
                  <a:tcPr anchor="ctr">
                    <a:solidFill>
                      <a:srgbClr val="002060"/>
                    </a:solidFill>
                  </a:tcPr>
                </a:tc>
                <a:tc>
                  <a:txBody>
                    <a:bodyPr/>
                    <a:lstStyle/>
                    <a:p>
                      <a:pPr algn="ctr"/>
                      <a:r>
                        <a:rPr lang="en-US" sz="1600" b="1" dirty="0">
                          <a:solidFill>
                            <a:srgbClr val="FFFFFF"/>
                          </a:solidFill>
                        </a:rPr>
                        <a:t>Deliverables</a:t>
                      </a:r>
                    </a:p>
                  </a:txBody>
                  <a:tcPr anchor="ctr">
                    <a:solidFill>
                      <a:srgbClr val="002060"/>
                    </a:solidFill>
                  </a:tcPr>
                </a:tc>
                <a:extLst>
                  <a:ext uri="{0D108BD9-81ED-4DB2-BD59-A6C34878D82A}">
                    <a16:rowId xmlns:a16="http://schemas.microsoft.com/office/drawing/2014/main" val="3313567772"/>
                  </a:ext>
                </a:extLst>
              </a:tr>
              <a:tr h="952500">
                <a:tc>
                  <a:txBody>
                    <a:bodyPr/>
                    <a:lstStyle/>
                    <a:p>
                      <a:pPr algn="ctr"/>
                      <a:r>
                        <a:rPr lang="en-US" sz="1600" b="1" dirty="0"/>
                        <a:t>Q1</a:t>
                      </a:r>
                    </a:p>
                    <a:p>
                      <a:pPr algn="ctr"/>
                      <a:r>
                        <a:rPr lang="en-US" sz="1400" dirty="0"/>
                        <a:t>(Jul - Sep)</a:t>
                      </a:r>
                    </a:p>
                  </a:txBody>
                  <a:tcPr anchor="ctr"/>
                </a:tc>
                <a:tc>
                  <a:txBody>
                    <a:bodyPr/>
                    <a:lstStyle/>
                    <a:p>
                      <a:pPr algn="l"/>
                      <a:r>
                        <a:rPr lang="en-US" sz="1400" dirty="0"/>
                        <a:t>Literature review, problem formalisation, and airspace graph model design; Tier 1 multi-objective A*/Dijkstra implementation and unit tests</a:t>
                      </a:r>
                    </a:p>
                  </a:txBody>
                  <a:tcPr anchor="ctr"/>
                </a:tc>
                <a:tc>
                  <a:txBody>
                    <a:bodyPr/>
                    <a:lstStyle/>
                    <a:p>
                      <a:pPr algn="l"/>
                      <a:r>
                        <a:rPr lang="en-US" sz="1400" dirty="0"/>
                        <a:t>Literature review report, airspace graph model, Tier 1 A*/Dijkstra implementation with unit tests</a:t>
                      </a:r>
                    </a:p>
                  </a:txBody>
                  <a:tcPr anchor="ctr"/>
                </a:tc>
                <a:extLst>
                  <a:ext uri="{0D108BD9-81ED-4DB2-BD59-A6C34878D82A}">
                    <a16:rowId xmlns:a16="http://schemas.microsoft.com/office/drawing/2014/main" val="1890853386"/>
                  </a:ext>
                </a:extLst>
              </a:tr>
              <a:tr h="762000">
                <a:tc>
                  <a:txBody>
                    <a:bodyPr/>
                    <a:lstStyle/>
                    <a:p>
                      <a:pPr algn="ctr"/>
                      <a:r>
                        <a:rPr lang="en-US" sz="1600" b="1" dirty="0"/>
                        <a:t>Q2</a:t>
                      </a:r>
                    </a:p>
                    <a:p>
                      <a:pPr algn="ctr"/>
                      <a:r>
                        <a:rPr lang="en-US" sz="1400" dirty="0"/>
                        <a:t>(Oct - Nov)</a:t>
                      </a:r>
                    </a:p>
                  </a:txBody>
                  <a:tcPr anchor="ctr"/>
                </a:tc>
                <a:tc>
                  <a:txBody>
                    <a:bodyPr/>
                    <a:lstStyle/>
                    <a:p>
                      <a:pPr algn="l"/>
                      <a:r>
                        <a:rPr lang="en-US" sz="1400" dirty="0"/>
                        <a:t>Tier 1 Pareto front construction, objective normalisation, and front storage; Tier 2 payload metadata schema design and Pareto selection mapping</a:t>
                      </a:r>
                    </a:p>
                  </a:txBody>
                  <a:tcPr anchor="ctr"/>
                </a:tc>
                <a:tc>
                  <a:txBody>
                    <a:bodyPr/>
                    <a:lstStyle/>
                    <a:p>
                      <a:pPr algn="l"/>
                      <a:r>
                        <a:rPr lang="en-US" sz="1400" dirty="0"/>
                        <a:t>Pareto front construction module, objective normalisation scheme, payload metadata schema, Pareto selection mapping</a:t>
                      </a:r>
                    </a:p>
                  </a:txBody>
                  <a:tcPr anchor="ctr"/>
                </a:tc>
                <a:extLst>
                  <a:ext uri="{0D108BD9-81ED-4DB2-BD59-A6C34878D82A}">
                    <a16:rowId xmlns:a16="http://schemas.microsoft.com/office/drawing/2014/main" val="1506813115"/>
                  </a:ext>
                </a:extLst>
              </a:tr>
              <a:tr h="1905000">
                <a:tc>
                  <a:txBody>
                    <a:bodyPr/>
                    <a:lstStyle/>
                    <a:p>
                      <a:pPr algn="ctr"/>
                      <a:r>
                        <a:rPr lang="en-US" sz="1600" b="1" dirty="0"/>
                        <a:t>Q3</a:t>
                      </a:r>
                    </a:p>
                    <a:p>
                      <a:pPr algn="ctr"/>
                      <a:r>
                        <a:rPr lang="en-US" sz="1400" dirty="0"/>
                        <a:t>(Dec - Jan)</a:t>
                      </a:r>
                    </a:p>
                  </a:txBody>
                  <a:tcPr anchor="ctr"/>
                </a:tc>
                <a:tc>
                  <a:txBody>
                    <a:bodyPr/>
                    <a:lstStyle/>
                    <a:p>
                      <a:pPr algn="l"/>
                      <a:r>
                        <a:rPr lang="en-US" sz="1400" dirty="0"/>
                        <a:t>Ground-station dashboard and mission file generator; system integration and ArduPilot SITL simulation validation; baseline comparison against A* and MOPSO with Pareto-front benchmarking</a:t>
                      </a:r>
                    </a:p>
                  </a:txBody>
                  <a:tcPr anchor="ctr"/>
                </a:tc>
                <a:tc>
                  <a:txBody>
                    <a:bodyPr/>
                    <a:lstStyle/>
                    <a:p>
                      <a:pPr algn="l"/>
                      <a:r>
                        <a:rPr lang="en-US" sz="1400" dirty="0"/>
                        <a:t>Ground-station dashboard, mission file generator, validated ArduPilot SITL integration, baseline and Pareto-front benchmarking results</a:t>
                      </a:r>
                    </a:p>
                  </a:txBody>
                  <a:tcPr anchor="ctr"/>
                </a:tc>
                <a:extLst>
                  <a:ext uri="{0D108BD9-81ED-4DB2-BD59-A6C34878D82A}">
                    <a16:rowId xmlns:a16="http://schemas.microsoft.com/office/drawing/2014/main" val="2100035654"/>
                  </a:ext>
                </a:extLst>
              </a:tr>
              <a:tr h="952500">
                <a:tc>
                  <a:txBody>
                    <a:bodyPr/>
                    <a:lstStyle/>
                    <a:p>
                      <a:pPr algn="ctr"/>
                      <a:r>
                        <a:rPr lang="en-US" sz="1600" b="1" dirty="0"/>
                        <a:t>Q4</a:t>
                      </a:r>
                    </a:p>
                    <a:p>
                      <a:pPr algn="ctr"/>
                      <a:r>
                        <a:rPr lang="en-US" sz="1400" dirty="0"/>
                        <a:t>(Feb - Mar)</a:t>
                      </a:r>
                    </a:p>
                  </a:txBody>
                  <a:tcPr anchor="ctr"/>
                </a:tc>
                <a:tc>
                  <a:txBody>
                    <a:bodyPr/>
                    <a:lstStyle/>
                    <a:p>
                      <a:pPr algn="l"/>
                      <a:r>
                        <a:rPr lang="en-US" sz="1400" dirty="0"/>
                        <a:t>Real outdoor flight tests and end-to-end performance measurement; results analysis, documentation, and final project report</a:t>
                      </a:r>
                    </a:p>
                  </a:txBody>
                  <a:tcPr anchor="ctr"/>
                </a:tc>
                <a:tc>
                  <a:txBody>
                    <a:bodyPr/>
                    <a:lstStyle/>
                    <a:p>
                      <a:pPr algn="l"/>
                      <a:r>
                        <a:rPr lang="en-US" sz="1400" dirty="0"/>
                        <a:t>Flight test data, end-to-end performance measurements, final thesis and project report</a:t>
                      </a:r>
                    </a:p>
                  </a:txBody>
                  <a:tcPr anchor="ctr"/>
                </a:tc>
                <a:extLst>
                  <a:ext uri="{0D108BD9-81ED-4DB2-BD59-A6C34878D82A}">
                    <a16:rowId xmlns:a16="http://schemas.microsoft.com/office/drawing/2014/main" val="2721855262"/>
                  </a:ext>
                </a:extLst>
              </a:tr>
            </a:tbl>
          </a:graphicData>
        </a:graphic>
      </p:graphicFrame>
    </p:spTree>
    <p:extLst>
      <p:ext uri="{BB962C8B-B14F-4D97-AF65-F5344CB8AC3E}">
        <p14:creationId xmlns:p14="http://schemas.microsoft.com/office/powerpoint/2010/main" val="3985445172"/>
      </p:ext>
    </p:extLst>
  </p:cSld>
  <p:clrMapOvr>
    <a:masterClrMapping/>
  </p:clrMapOvr>
</p:sld>
</file>

<file path=ppt/theme/theme1.xml><?xml version="1.0" encoding="utf-8"?>
<a:theme xmlns:a="http://schemas.openxmlformats.org/drawingml/2006/main" name="Office Theme [1785327464870]">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497f5c0-02a0-4350-8ba3-b86efb703c10}">
  <we:reference id="WA200010001" version="1.0.0.1" store="en-US" storeType="OMEX"/>
  <we:alternateReferences/>
  <we:properties>
    <we:property name="Microsoft.Office.CampaignId" value="&quot;none&quot;"/>
    <we:property name="claude.fileId" value="&quot;5af474d8-dadb-4917-bf3a-38e70494fe7a&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3" ma:contentTypeDescription="Create a new document." ma:contentTypeScope="" ma:versionID="d936d863d335d354da51eb78ca1ae338">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5fbac08d56b1b04aa33acbc31e882ce9"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Props1.xml><?xml version="1.0" encoding="utf-8"?>
<ds:datastoreItem xmlns:ds="http://schemas.openxmlformats.org/officeDocument/2006/customXml" ds:itemID="{A79EAE08-AAD0-49B9-BF66-164C225CC5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3.xml><?xml version="1.0" encoding="utf-8"?>
<ds:datastoreItem xmlns:ds="http://schemas.openxmlformats.org/officeDocument/2006/customXml" ds:itemID="{617AB1FA-2F28-4684-9230-02ACEB6C0B0A}">
  <ds:schemaRefs>
    <ds:schemaRef ds:uri="b1e4d6ee-9f6f-43f8-a618-24f3d84da28f"/>
    <ds:schemaRef ds:uri="http://purl.org/dc/terms/"/>
    <ds:schemaRef ds:uri="http://schemas.openxmlformats.org/package/2006/metadata/core-properties"/>
    <ds:schemaRef ds:uri="f577acbf-5b0b-4b4f-9948-268e97f8d3a4"/>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1957</TotalTime>
  <Words>2001</Words>
  <Application>Microsoft Office PowerPoint</Application>
  <PresentationFormat>Widescreen</PresentationFormat>
  <Paragraphs>88</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Helvetica</vt:lpstr>
      <vt:lpstr>Office Theme [1785327464870]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Thirumurugan RA</cp:lastModifiedBy>
  <cp:revision>4</cp:revision>
  <dcterms:created xsi:type="dcterms:W3CDTF">2018-06-07T21:39:02Z</dcterms:created>
  <dcterms:modified xsi:type="dcterms:W3CDTF">2026-08-15T17:25:12Z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