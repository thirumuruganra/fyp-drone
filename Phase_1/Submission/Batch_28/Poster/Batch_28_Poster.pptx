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7" r:id="rId2"/>
  </p:sldIdLst>
  <p:sldSz cx="30270450" cy="21383625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40" d="100"/>
          <a:sy n="40" d="100"/>
        </p:scale>
        <p:origin x="20" y="-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. Suresh Jaganathan" userId="ec8008bfc2cc2dbc" providerId="LiveId" clId="{924FB26C-2D2A-4505-917A-4469F2F25046}"/>
    <pc:docChg chg="undo custSel delSld modSld">
      <pc:chgData name="Dr. Suresh Jaganathan" userId="ec8008bfc2cc2dbc" providerId="LiveId" clId="{924FB26C-2D2A-4505-917A-4469F2F25046}" dt="2026-10-10T11:50:20.410" v="37" actId="14100"/>
      <pc:docMkLst>
        <pc:docMk/>
      </pc:docMkLst>
      <pc:sldChg chg="del">
        <pc:chgData name="Dr. Suresh Jaganathan" userId="ec8008bfc2cc2dbc" providerId="LiveId" clId="{924FB26C-2D2A-4505-917A-4469F2F25046}" dt="2026-10-10T11:45:55.128" v="0" actId="47"/>
        <pc:sldMkLst>
          <pc:docMk/>
          <pc:sldMk cId="1550836097" sldId="256"/>
        </pc:sldMkLst>
      </pc:sldChg>
      <pc:sldChg chg="delSp modSp mod">
        <pc:chgData name="Dr. Suresh Jaganathan" userId="ec8008bfc2cc2dbc" providerId="LiveId" clId="{924FB26C-2D2A-4505-917A-4469F2F25046}" dt="2026-10-10T11:50:20.410" v="37" actId="14100"/>
        <pc:sldMkLst>
          <pc:docMk/>
          <pc:sldMk cId="145654216" sldId="257"/>
        </pc:sldMkLst>
        <pc:spChg chg="mod">
          <ac:chgData name="Dr. Suresh Jaganathan" userId="ec8008bfc2cc2dbc" providerId="LiveId" clId="{924FB26C-2D2A-4505-917A-4469F2F25046}" dt="2026-10-10T11:50:20.410" v="37" actId="14100"/>
          <ac:spMkLst>
            <pc:docMk/>
            <pc:sldMk cId="145654216" sldId="257"/>
            <ac:spMk id="2" creationId="{134B97AB-EAA0-4CF8-AE0D-6C54179B12FF}"/>
          </ac:spMkLst>
        </pc:spChg>
        <pc:spChg chg="del">
          <ac:chgData name="Dr. Suresh Jaganathan" userId="ec8008bfc2cc2dbc" providerId="LiveId" clId="{924FB26C-2D2A-4505-917A-4469F2F25046}" dt="2026-10-10T11:46:00.926" v="1" actId="478"/>
          <ac:spMkLst>
            <pc:docMk/>
            <pc:sldMk cId="145654216" sldId="257"/>
            <ac:spMk id="3" creationId="{5C39793F-80DF-4B0A-AEAF-354F34B514A1}"/>
          </ac:spMkLst>
        </pc:spChg>
        <pc:spChg chg="mod">
          <ac:chgData name="Dr. Suresh Jaganathan" userId="ec8008bfc2cc2dbc" providerId="LiveId" clId="{924FB26C-2D2A-4505-917A-4469F2F25046}" dt="2026-10-10T11:46:17.734" v="5" actId="122"/>
          <ac:spMkLst>
            <pc:docMk/>
            <pc:sldMk cId="145654216" sldId="257"/>
            <ac:spMk id="4" creationId="{F84BE3C1-6532-4064-8A34-AD48A213199C}"/>
          </ac:spMkLst>
        </pc:spChg>
        <pc:spChg chg="mod">
          <ac:chgData name="Dr. Suresh Jaganathan" userId="ec8008bfc2cc2dbc" providerId="LiveId" clId="{924FB26C-2D2A-4505-917A-4469F2F25046}" dt="2026-10-10T11:46:20.748" v="6" actId="122"/>
          <ac:spMkLst>
            <pc:docMk/>
            <pc:sldMk cId="145654216" sldId="257"/>
            <ac:spMk id="5" creationId="{8426F9BF-2F9C-41CC-9001-4E47FE1DB6F1}"/>
          </ac:spMkLst>
        </pc:spChg>
        <pc:spChg chg="mod">
          <ac:chgData name="Dr. Suresh Jaganathan" userId="ec8008bfc2cc2dbc" providerId="LiveId" clId="{924FB26C-2D2A-4505-917A-4469F2F25046}" dt="2026-10-10T11:46:23.093" v="7" actId="122"/>
          <ac:spMkLst>
            <pc:docMk/>
            <pc:sldMk cId="145654216" sldId="257"/>
            <ac:spMk id="6" creationId="{6BEE576D-3470-490F-885A-1EADA154C392}"/>
          </ac:spMkLst>
        </pc:spChg>
        <pc:spChg chg="mod">
          <ac:chgData name="Dr. Suresh Jaganathan" userId="ec8008bfc2cc2dbc" providerId="LiveId" clId="{924FB26C-2D2A-4505-917A-4469F2F25046}" dt="2026-10-10T11:47:51.276" v="26" actId="1076"/>
          <ac:spMkLst>
            <pc:docMk/>
            <pc:sldMk cId="145654216" sldId="257"/>
            <ac:spMk id="10" creationId="{C709682E-49D1-4DAB-9C3E-88B3479F0B02}"/>
          </ac:spMkLst>
        </pc:spChg>
        <pc:spChg chg="mod">
          <ac:chgData name="Dr. Suresh Jaganathan" userId="ec8008bfc2cc2dbc" providerId="LiveId" clId="{924FB26C-2D2A-4505-917A-4469F2F25046}" dt="2026-10-10T11:47:34.775" v="22" actId="14100"/>
          <ac:spMkLst>
            <pc:docMk/>
            <pc:sldMk cId="145654216" sldId="257"/>
            <ac:spMk id="14" creationId="{6931E5D3-CCF5-403D-B84E-EDA393E72F73}"/>
          </ac:spMkLst>
        </pc:spChg>
        <pc:spChg chg="mod">
          <ac:chgData name="Dr. Suresh Jaganathan" userId="ec8008bfc2cc2dbc" providerId="LiveId" clId="{924FB26C-2D2A-4505-917A-4469F2F25046}" dt="2026-10-10T11:47:53.500" v="27" actId="1076"/>
          <ac:spMkLst>
            <pc:docMk/>
            <pc:sldMk cId="145654216" sldId="257"/>
            <ac:spMk id="15" creationId="{13492EBB-FB81-4A77-98EF-2CB2DA01FEC1}"/>
          </ac:spMkLst>
        </pc:spChg>
        <pc:spChg chg="mod">
          <ac:chgData name="Dr. Suresh Jaganathan" userId="ec8008bfc2cc2dbc" providerId="LiveId" clId="{924FB26C-2D2A-4505-917A-4469F2F25046}" dt="2026-10-10T11:49:45.559" v="34" actId="14100"/>
          <ac:spMkLst>
            <pc:docMk/>
            <pc:sldMk cId="145654216" sldId="257"/>
            <ac:spMk id="17" creationId="{BA0C4176-29A0-40AD-89BA-A05B9C0CEEF0}"/>
          </ac:spMkLst>
        </pc:spChg>
        <pc:spChg chg="mod">
          <ac:chgData name="Dr. Suresh Jaganathan" userId="ec8008bfc2cc2dbc" providerId="LiveId" clId="{924FB26C-2D2A-4505-917A-4469F2F25046}" dt="2026-10-10T11:48:49.883" v="33" actId="1076"/>
          <ac:spMkLst>
            <pc:docMk/>
            <pc:sldMk cId="145654216" sldId="257"/>
            <ac:spMk id="22" creationId="{72FEF28A-94D2-421C-A1D0-8DAB170FC3C8}"/>
          </ac:spMkLst>
        </pc:spChg>
        <pc:spChg chg="mod">
          <ac:chgData name="Dr. Suresh Jaganathan" userId="ec8008bfc2cc2dbc" providerId="LiveId" clId="{924FB26C-2D2A-4505-917A-4469F2F25046}" dt="2026-10-10T11:48:44.307" v="32" actId="1076"/>
          <ac:spMkLst>
            <pc:docMk/>
            <pc:sldMk cId="145654216" sldId="257"/>
            <ac:spMk id="24" creationId="{DA2FEC55-E2BE-4A31-AF36-13C6B111FAB4}"/>
          </ac:spMkLst>
        </pc:spChg>
        <pc:spChg chg="mod">
          <ac:chgData name="Dr. Suresh Jaganathan" userId="ec8008bfc2cc2dbc" providerId="LiveId" clId="{924FB26C-2D2A-4505-917A-4469F2F25046}" dt="2026-10-10T11:46:44.242" v="15" actId="403"/>
          <ac:spMkLst>
            <pc:docMk/>
            <pc:sldMk cId="145654216" sldId="257"/>
            <ac:spMk id="32" creationId="{E89A2640-B5DB-48AA-A002-059B5158C160}"/>
          </ac:spMkLst>
        </pc:spChg>
        <pc:spChg chg="mod">
          <ac:chgData name="Dr. Suresh Jaganathan" userId="ec8008bfc2cc2dbc" providerId="LiveId" clId="{924FB26C-2D2A-4505-917A-4469F2F25046}" dt="2026-10-10T11:47:27.853" v="21" actId="14100"/>
          <ac:spMkLst>
            <pc:docMk/>
            <pc:sldMk cId="145654216" sldId="257"/>
            <ac:spMk id="37" creationId="{B825398C-3094-6C2E-F51B-7E7DE07004CA}"/>
          </ac:spMkLst>
        </pc:spChg>
        <pc:spChg chg="mod">
          <ac:chgData name="Dr. Suresh Jaganathan" userId="ec8008bfc2cc2dbc" providerId="LiveId" clId="{924FB26C-2D2A-4505-917A-4469F2F25046}" dt="2026-10-10T11:47:40.433" v="25" actId="20577"/>
          <ac:spMkLst>
            <pc:docMk/>
            <pc:sldMk cId="145654216" sldId="257"/>
            <ac:spMk id="38" creationId="{68D29E1E-0E39-FF0F-E884-F97E918FB502}"/>
          </ac:spMkLst>
        </pc:spChg>
        <pc:picChg chg="mod">
          <ac:chgData name="Dr. Suresh Jaganathan" userId="ec8008bfc2cc2dbc" providerId="LiveId" clId="{924FB26C-2D2A-4505-917A-4469F2F25046}" dt="2026-10-10T11:46:51.294" v="17" actId="1076"/>
          <ac:picMkLst>
            <pc:docMk/>
            <pc:sldMk cId="145654216" sldId="257"/>
            <ac:picMk id="34" creationId="{0EF0BD8F-825E-A2C0-2525-FD1B64C0E6D0}"/>
          </ac:picMkLst>
        </pc:picChg>
        <pc:cxnChg chg="mod">
          <ac:chgData name="Dr. Suresh Jaganathan" userId="ec8008bfc2cc2dbc" providerId="LiveId" clId="{924FB26C-2D2A-4505-917A-4469F2F25046}" dt="2026-10-10T11:47:07.628" v="19" actId="14100"/>
          <ac:cxnSpMkLst>
            <pc:docMk/>
            <pc:sldMk cId="145654216" sldId="257"/>
            <ac:cxnSpMk id="36" creationId="{E2410E94-B0D4-BEC6-A47D-1F1B0E9BD3D9}"/>
          </ac:cxnSpMkLst>
        </pc:cxn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352196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42F826D9-3ED3-4ECA-9A68-9A93C5F2F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7045" y="8078258"/>
            <a:ext cx="24216360" cy="3088746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191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B7786D3D-EAC0-4559-A205-F091E9692B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40568" y="11760994"/>
            <a:ext cx="21189315" cy="2375958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521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20D23FFE-B32F-46B0-9F74-4AED26BE8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7045" y="8909844"/>
            <a:ext cx="24216360" cy="3563937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042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C63F40F8-5937-4F78-B190-853379465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2713" y="1663171"/>
            <a:ext cx="26865024" cy="2613554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819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E29C7129-A9B9-4E7E-90A2-23434D2576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02713" y="5939896"/>
            <a:ext cx="26865024" cy="13305367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558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567571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1pPr>
            <a:lvl2pPr marL="1324332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2pPr>
            <a:lvl3pPr marL="2081093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3pPr>
            <a:lvl4pPr marL="2837855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4pPr>
            <a:lvl5pPr marL="3594616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5pPr>
            <a:lvl6pPr marL="4351377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6pPr>
            <a:lvl7pPr marL="5108138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7pPr>
            <a:lvl8pPr marL="5864900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8pPr>
            <a:lvl9pPr marL="6621661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F91E6C8B-B81F-4693-9984-9640B8357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2713" y="1663171"/>
            <a:ext cx="26865024" cy="2613554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819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05683F3A-81C5-43FE-A0E3-5445417921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02713" y="5939896"/>
            <a:ext cx="12486561" cy="13305367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521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567571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1pPr>
            <a:lvl2pPr marL="1324332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2pPr>
            <a:lvl3pPr marL="2081093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3pPr>
            <a:lvl4pPr marL="2837855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4pPr>
            <a:lvl5pPr marL="3594616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5pPr>
            <a:lvl6pPr marL="4351377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6pPr>
            <a:lvl7pPr marL="5108138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7pPr>
            <a:lvl8pPr marL="5864900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8pPr>
            <a:lvl9pPr marL="6621661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7677A5B2-8C77-4BCB-93C6-32232E34CFC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6081177" y="5939896"/>
            <a:ext cx="12486561" cy="13305367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521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567571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1pPr>
            <a:lvl2pPr marL="1324332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2pPr>
            <a:lvl3pPr marL="2081093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3pPr>
            <a:lvl4pPr marL="2837855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4pPr>
            <a:lvl5pPr marL="3594616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5pPr>
            <a:lvl6pPr marL="4351377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6pPr>
            <a:lvl7pPr marL="5108138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7pPr>
            <a:lvl8pPr marL="5864900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8pPr>
            <a:lvl9pPr marL="6621661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568C1F1A-566D-48A6-AB6C-1531BF104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2713" y="1663171"/>
            <a:ext cx="26865024" cy="2613554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819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5A82C079-3AE7-4C2B-B0D3-03D6EDB8CC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02713" y="5939896"/>
            <a:ext cx="12486561" cy="13305367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558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567571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1pPr>
            <a:lvl2pPr marL="1324332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2pPr>
            <a:lvl3pPr marL="2081093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3pPr>
            <a:lvl4pPr marL="2837855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4pPr>
            <a:lvl5pPr marL="3594616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5pPr>
            <a:lvl6pPr marL="4351377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6pPr>
            <a:lvl7pPr marL="5108138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7pPr>
            <a:lvl8pPr marL="5864900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8pPr>
            <a:lvl9pPr marL="6621661" indent="-567571">
              <a:lnSpc>
                <a:spcPct val="110000"/>
              </a:lnSpc>
              <a:spcBef>
                <a:spcPts val="0"/>
              </a:spcBef>
              <a:spcAft>
                <a:spcPts val="2979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E89A2640-B5DB-48AA-A002-059B5158C160}"/>
              </a:ext>
            </a:extLst>
          </p:cNvPr>
          <p:cNvSpPr>
            <a:spLocks noGrp="1"/>
          </p:cNvSpPr>
          <p:nvPr/>
        </p:nvSpPr>
        <p:spPr>
          <a:xfrm>
            <a:off x="2857500" y="174457"/>
            <a:ext cx="24574500" cy="892343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15354B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3300" b="1">
                <a:solidFill>
                  <a:srgbClr val="15354B"/>
                </a:solidFill>
                <a:latin typeface="Arial"/>
                <a:ea typeface="Arial"/>
                <a:cs typeface="Arial"/>
              </a:defRPr>
            </a:pPr>
            <a:r>
              <a:rPr sz="4400" b="1" dirty="0">
                <a:solidFill>
                  <a:srgbClr val="15354B"/>
                </a:solidFill>
                <a:latin typeface="Arial"/>
                <a:ea typeface="Arial"/>
                <a:cs typeface="Arial"/>
              </a:rPr>
              <a:t>Sri Sivasubramaniya Nadar College of Engineering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34B97AB-EAA0-4CF8-AE0D-6C54179B12FF}"/>
              </a:ext>
            </a:extLst>
          </p:cNvPr>
          <p:cNvSpPr>
            <a:spLocks noGrp="1"/>
          </p:cNvSpPr>
          <p:nvPr/>
        </p:nvSpPr>
        <p:spPr>
          <a:xfrm>
            <a:off x="2857500" y="1042236"/>
            <a:ext cx="24574500" cy="578268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550" b="0">
                <a:solidFill>
                  <a:srgbClr val="506575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550" b="0">
                <a:solidFill>
                  <a:srgbClr val="506575"/>
                </a:solidFill>
                <a:latin typeface="Arial"/>
                <a:ea typeface="Arial"/>
                <a:cs typeface="Arial"/>
              </a:defRPr>
            </a:pPr>
            <a:r>
              <a:rPr sz="3600" b="0" dirty="0">
                <a:solidFill>
                  <a:srgbClr val="506575"/>
                </a:solidFill>
                <a:latin typeface="Arial"/>
                <a:ea typeface="Arial"/>
                <a:cs typeface="Arial"/>
              </a:rPr>
              <a:t>Department of Computer Science and Engineering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84BE3C1-6532-4064-8A34-AD48A213199C}"/>
              </a:ext>
            </a:extLst>
          </p:cNvPr>
          <p:cNvSpPr>
            <a:spLocks noGrp="1"/>
          </p:cNvSpPr>
          <p:nvPr/>
        </p:nvSpPr>
        <p:spPr>
          <a:xfrm>
            <a:off x="619125" y="1795462"/>
            <a:ext cx="29032200" cy="995363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5850" b="1">
                <a:solidFill>
                  <a:srgbClr val="15354B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5850" b="1">
                <a:solidFill>
                  <a:srgbClr val="15354B"/>
                </a:solidFill>
                <a:latin typeface="Arial"/>
                <a:ea typeface="Arial"/>
                <a:cs typeface="Arial"/>
              </a:defRPr>
            </a:pPr>
            <a:r>
              <a:rPr sz="4800" b="1" dirty="0">
                <a:solidFill>
                  <a:srgbClr val="15354B"/>
                </a:solidFill>
                <a:latin typeface="Arial"/>
                <a:ea typeface="Arial"/>
                <a:cs typeface="Arial"/>
              </a:rPr>
              <a:t>PAYLOAD-AWARE TWO-TIER UAV ROUTE PLANNING FOR LAST-MILE DELIVERY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26F9BF-2F9C-41CC-9001-4E47FE1DB6F1}"/>
              </a:ext>
            </a:extLst>
          </p:cNvPr>
          <p:cNvSpPr>
            <a:spLocks noGrp="1"/>
          </p:cNvSpPr>
          <p:nvPr/>
        </p:nvSpPr>
        <p:spPr>
          <a:xfrm>
            <a:off x="619125" y="2781300"/>
            <a:ext cx="29032200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475" b="0">
                <a:solidFill>
                  <a:srgbClr val="15354B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475" b="0">
                <a:solidFill>
                  <a:srgbClr val="15354B"/>
                </a:solidFill>
                <a:latin typeface="Arial"/>
                <a:ea typeface="Arial"/>
                <a:cs typeface="Arial"/>
              </a:defRPr>
            </a:pPr>
            <a:r>
              <a:rPr sz="2475" b="0" dirty="0">
                <a:solidFill>
                  <a:srgbClr val="15354B"/>
                </a:solidFill>
                <a:latin typeface="Arial"/>
                <a:ea typeface="Arial"/>
                <a:cs typeface="Arial"/>
              </a:rPr>
              <a:t>Thirumurugan RA, 3122235001149          Meghna Manimaran, 3122235001079          Shrika SP Thota, 3122235001125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BEE576D-3470-490F-885A-1EADA154C392}"/>
              </a:ext>
            </a:extLst>
          </p:cNvPr>
          <p:cNvSpPr>
            <a:spLocks noGrp="1"/>
          </p:cNvSpPr>
          <p:nvPr/>
        </p:nvSpPr>
        <p:spPr>
          <a:xfrm>
            <a:off x="619125" y="3433762"/>
            <a:ext cx="29032200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475" b="0">
                <a:solidFill>
                  <a:srgbClr val="506575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475" b="0">
                <a:solidFill>
                  <a:srgbClr val="506575"/>
                </a:solidFill>
                <a:latin typeface="Arial"/>
                <a:ea typeface="Arial"/>
                <a:cs typeface="Arial"/>
              </a:defRPr>
            </a:pPr>
            <a:r>
              <a:rPr sz="2475" b="0" dirty="0">
                <a:solidFill>
                  <a:srgbClr val="506575"/>
                </a:solidFill>
                <a:latin typeface="Arial"/>
                <a:ea typeface="Arial"/>
                <a:cs typeface="Arial"/>
              </a:rPr>
              <a:t>Guide: Dr. N. Sujaudeen, Assistant Professor, Department of CSE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709682E-49D1-4DAB-9C3E-88B3479F0B02}"/>
              </a:ext>
            </a:extLst>
          </p:cNvPr>
          <p:cNvSpPr>
            <a:spLocks noGrp="1"/>
          </p:cNvSpPr>
          <p:nvPr/>
        </p:nvSpPr>
        <p:spPr>
          <a:xfrm>
            <a:off x="454056" y="4275701"/>
            <a:ext cx="8513564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3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3300" b="1" dirty="0">
                <a:solidFill>
                  <a:srgbClr val="087F8C"/>
                </a:solidFill>
                <a:latin typeface="Arial"/>
                <a:ea typeface="Arial"/>
                <a:cs typeface="Arial"/>
              </a:rPr>
              <a:t>Problem Statement &amp; Objectives</a:t>
            </a:r>
            <a:endParaRPr sz="3300" b="1" dirty="0">
              <a:solidFill>
                <a:srgbClr val="087F8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5745C2B-38B5-4B73-945F-5B1E00D6EB36}"/>
              </a:ext>
            </a:extLst>
          </p:cNvPr>
          <p:cNvSpPr>
            <a:spLocks noGrp="1"/>
          </p:cNvSpPr>
          <p:nvPr/>
        </p:nvSpPr>
        <p:spPr>
          <a:xfrm>
            <a:off x="454056" y="9043296"/>
            <a:ext cx="8513564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3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3300" b="1" dirty="0">
                <a:solidFill>
                  <a:srgbClr val="087F8C"/>
                </a:solidFill>
                <a:latin typeface="Arial"/>
                <a:ea typeface="Arial"/>
                <a:cs typeface="Arial"/>
              </a:rPr>
              <a:t>Related work and research gap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3492EBB-FB81-4A77-98EF-2CB2DA01FEC1}"/>
              </a:ext>
            </a:extLst>
          </p:cNvPr>
          <p:cNvSpPr>
            <a:spLocks noGrp="1"/>
          </p:cNvSpPr>
          <p:nvPr/>
        </p:nvSpPr>
        <p:spPr>
          <a:xfrm>
            <a:off x="9194649" y="4275701"/>
            <a:ext cx="10518981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3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3300" b="1" dirty="0">
                <a:solidFill>
                  <a:srgbClr val="087F8C"/>
                </a:solidFill>
                <a:latin typeface="Arial"/>
                <a:ea typeface="Arial"/>
                <a:cs typeface="Arial"/>
              </a:rPr>
              <a:t>Methodology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5A233BF-2C9A-4304-A813-E05EC8CAE992}"/>
              </a:ext>
            </a:extLst>
          </p:cNvPr>
          <p:cNvSpPr>
            <a:spLocks noGrp="1"/>
          </p:cNvSpPr>
          <p:nvPr/>
        </p:nvSpPr>
        <p:spPr>
          <a:xfrm>
            <a:off x="9194649" y="13905487"/>
            <a:ext cx="10518981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3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lang="en-US" sz="3300" b="1" dirty="0">
                <a:solidFill>
                  <a:srgbClr val="087F8C"/>
                </a:solidFill>
                <a:latin typeface="Arial"/>
                <a:ea typeface="Arial"/>
                <a:cs typeface="Arial"/>
              </a:rPr>
              <a:t>Functional Modules and Dataset Description</a:t>
            </a:r>
            <a:endParaRPr sz="3300" b="1" dirty="0">
              <a:solidFill>
                <a:srgbClr val="087F8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2FEF28A-94D2-421C-A1D0-8DAB170FC3C8}"/>
              </a:ext>
            </a:extLst>
          </p:cNvPr>
          <p:cNvSpPr>
            <a:spLocks noGrp="1"/>
          </p:cNvSpPr>
          <p:nvPr/>
        </p:nvSpPr>
        <p:spPr>
          <a:xfrm>
            <a:off x="19997416" y="4275701"/>
            <a:ext cx="9648705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3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3300" b="1" dirty="0">
                <a:solidFill>
                  <a:srgbClr val="087F8C"/>
                </a:solidFill>
                <a:latin typeface="Arial"/>
                <a:ea typeface="Arial"/>
                <a:cs typeface="Arial"/>
              </a:rPr>
              <a:t>Results and Analysis</a:t>
            </a:r>
            <a:endParaRPr sz="3300" b="1" dirty="0">
              <a:solidFill>
                <a:srgbClr val="087F8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C8F8393-2FDB-437D-9D78-676ADC7F9BDF}"/>
              </a:ext>
            </a:extLst>
          </p:cNvPr>
          <p:cNvSpPr>
            <a:spLocks noGrp="1"/>
          </p:cNvSpPr>
          <p:nvPr/>
        </p:nvSpPr>
        <p:spPr>
          <a:xfrm>
            <a:off x="19997416" y="17905116"/>
            <a:ext cx="9648705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3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3300" b="1" dirty="0">
                <a:solidFill>
                  <a:srgbClr val="087F8C"/>
                </a:solidFill>
                <a:latin typeface="Arial"/>
                <a:ea typeface="Arial"/>
                <a:cs typeface="Arial"/>
              </a:rPr>
              <a:t>Conclusion and future work</a:t>
            </a:r>
          </a:p>
        </p:txBody>
      </p:sp>
      <p:pic>
        <p:nvPicPr>
          <p:cNvPr id="34" name="Picture 33" descr="A blue and white logo&#10;&#10;Description automatically generated">
            <a:extLst>
              <a:ext uri="{FF2B5EF4-FFF2-40B4-BE49-F238E27FC236}">
                <a16:creationId xmlns:a16="http://schemas.microsoft.com/office/drawing/2014/main" id="{0EF0BD8F-825E-A2C0-2525-FD1B64C0E6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125" y="319489"/>
            <a:ext cx="2187116" cy="1016268"/>
          </a:xfrm>
          <a:prstGeom prst="rect">
            <a:avLst/>
          </a:prstGeom>
        </p:spPr>
      </p:pic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2410E94-B0D4-BEC6-A47D-1F1B0E9BD3D9}"/>
              </a:ext>
            </a:extLst>
          </p:cNvPr>
          <p:cNvCxnSpPr>
            <a:cxnSpLocks/>
          </p:cNvCxnSpPr>
          <p:nvPr/>
        </p:nvCxnSpPr>
        <p:spPr>
          <a:xfrm flipV="1">
            <a:off x="619125" y="3957637"/>
            <a:ext cx="29018665" cy="16042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Problem and Objectives Text"/>
          <p:cNvSpPr txBox="1"/>
          <p:nvPr/>
        </p:nvSpPr>
        <p:spPr>
          <a:xfrm>
            <a:off x="567570" y="4956786"/>
            <a:ext cx="8324373" cy="47297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  <a:spcBef>
                <a:spcPts val="400"/>
              </a:spcBef>
            </a:pPr>
            <a:r>
              <a:rPr sz="2000" b="1">
                <a:solidFill>
                  <a:srgbClr val="087F8C"/>
                </a:solidFill>
                <a:latin typeface="Arial"/>
              </a:rPr>
              <a:t>Problem Statement</a:t>
            </a:r>
          </a:p>
          <a:p>
            <a:pPr algn="l">
              <a:lnSpc>
                <a:spcPts val="2250"/>
              </a:lnSpc>
            </a:pPr>
            <a:r>
              <a:rPr sz="1800" b="0">
                <a:solidFill>
                  <a:srgbClr val="15354B"/>
                </a:solidFill>
                <a:latin typeface="Arial"/>
              </a:rPr>
              <a:t>Existing UAV planners pick a route from the Pareto front with a payload-blind rule (entropy, crowding distance) or a weighted sum fixed before the search, so every payload change needs expert re-tuning and a fresh search. Given a stored front and payload tags (fragility F, weight class W, urgency U, priority P), select the best route with no re-tuning and no re-search, in under 1 s.</a:t>
            </a:r>
          </a:p>
          <a:p>
            <a:pPr algn="l">
              <a:lnSpc>
                <a:spcPts val="2250"/>
              </a:lnSpc>
              <a:spcBef>
                <a:spcPts val="400"/>
              </a:spcBef>
            </a:pPr>
            <a:r>
              <a:rPr sz="2000" b="1">
                <a:solidFill>
                  <a:srgbClr val="087F8C"/>
                </a:solidFill>
                <a:latin typeface="Arial"/>
              </a:rPr>
              <a:t>Objectives</a:t>
            </a:r>
          </a:p>
          <a:p>
            <a:pPr algn="l">
              <a:lnSpc>
                <a:spcPts val="2250"/>
              </a:lnSpc>
            </a:pPr>
            <a:r>
              <a:rPr sz="1800" b="0">
                <a:solidFill>
                  <a:srgbClr val="15354B"/>
                </a:solidFill>
                <a:latin typeface="Arial"/>
              </a:rPr>
              <a:t>1. Precompute an exact Pareto front (NAMOA*) over a 3-D airspace graph</a:t>
            </a:r>
          </a:p>
          <a:p>
            <a:pPr algn="l">
              <a:lnSpc>
                <a:spcPts val="2250"/>
              </a:lnSpc>
            </a:pPr>
            <a:r>
              <a:rPr sz="1800" b="0">
                <a:solidFill>
                  <a:srgbClr val="15354B"/>
                </a:solidFill>
                <a:latin typeface="Arial"/>
              </a:rPr>
              <a:t>2. Model terrain, buildings, no-fly zones and direction-aware wind per edge</a:t>
            </a:r>
          </a:p>
          <a:p>
            <a:pPr algn="l">
              <a:lnSpc>
                <a:spcPts val="2250"/>
              </a:lnSpc>
            </a:pPr>
            <a:r>
              <a:rPr sz="1800" b="0">
                <a:solidFill>
                  <a:srgbClr val="15354B"/>
                </a:solidFill>
                <a:latin typeface="Arial"/>
              </a:rPr>
              <a:t>3. Map payload tags to selection weights with an explicit formula</a:t>
            </a:r>
          </a:p>
          <a:p>
            <a:pPr algn="l">
              <a:lnSpc>
                <a:spcPts val="2250"/>
              </a:lnSpc>
            </a:pPr>
            <a:r>
              <a:rPr sz="1800" b="0">
                <a:solidFill>
                  <a:srgbClr val="15354B"/>
                </a:solidFill>
                <a:latin typeface="Arial"/>
              </a:rPr>
              <a:t>4. Benchmark Tier 1 against A* and MOPSO (HV, IGD, spread)</a:t>
            </a:r>
          </a:p>
          <a:p>
            <a:pPr algn="l">
              <a:lnSpc>
                <a:spcPts val="2250"/>
              </a:lnSpc>
            </a:pPr>
            <a:r>
              <a:rPr sz="1800" b="0">
                <a:solidFill>
                  <a:srgbClr val="15354B"/>
                </a:solidFill>
                <a:latin typeface="Arial"/>
              </a:rPr>
              <a:t>5. Show Tier 2 picks suit the payload, incl. non-extreme routes, in &lt;1 s</a:t>
            </a:r>
          </a:p>
          <a:p>
            <a:pPr algn="l">
              <a:lnSpc>
                <a:spcPts val="2250"/>
              </a:lnSpc>
            </a:pPr>
            <a:r>
              <a:rPr sz="1800" b="0">
                <a:solidFill>
                  <a:srgbClr val="15354B"/>
                </a:solidFill>
                <a:latin typeface="Arial"/>
              </a:rPr>
              <a:t>6. Export the route as an ArduPilot mission; verify in Gazebo + SITL</a:t>
            </a:r>
          </a:p>
        </p:txBody>
      </p:sp>
      <p:graphicFrame>
        <p:nvGraphicFramePr>
          <p:cNvPr id="38" name="Related Work Table"/>
          <p:cNvGraphicFramePr>
            <a:graphicFrameLocks noGrp="1"/>
          </p:cNvGraphicFramePr>
          <p:nvPr/>
        </p:nvGraphicFramePr>
        <p:xfrm>
          <a:off x="567570" y="9686544"/>
          <a:ext cx="8324372" cy="1816224"/>
        </p:xfrm>
        <a:graphic>
          <a:graphicData uri="http://schemas.openxmlformats.org/drawingml/2006/table">
            <a:tbl>
              <a:tblPr firstRow="1" bandRow="0"/>
              <a:tblGrid>
                <a:gridCol w="1740550"/>
                <a:gridCol w="1967579"/>
                <a:gridCol w="2118931"/>
                <a:gridCol w="2497312"/>
              </a:tblGrid>
              <a:tr h="302704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Author / Year</a:t>
                      </a:r>
                    </a:p>
                  </a:txBody>
                  <a:tcPr marL="50800" marR="50800" marT="19050" marB="19050" anchor="ctr">
                    <a:lnL w="9525" cmpd="sng">
                      <a:solidFill>
                        <a:srgbClr val="15354B"/>
                      </a:solidFill>
                    </a:lnL>
                    <a:lnR w="9525" cmpd="sng">
                      <a:solidFill>
                        <a:srgbClr val="15354B"/>
                      </a:solidFill>
                    </a:lnR>
                    <a:lnT w="9525" cmpd="sng">
                      <a:solidFill>
                        <a:srgbClr val="15354B"/>
                      </a:solidFill>
                    </a:lnT>
                    <a:lnB w="9525" cmpd="sng">
                      <a:solidFill>
                        <a:srgbClr val="15354B"/>
                      </a:solidFill>
                    </a:lnB>
                    <a:solidFill>
                      <a:srgbClr val="1535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Proposed Method</a:t>
                      </a:r>
                    </a:p>
                  </a:txBody>
                  <a:tcPr marL="50800" marR="50800" marT="19050" marB="19050" anchor="ctr">
                    <a:lnL w="9525" cmpd="sng">
                      <a:solidFill>
                        <a:srgbClr val="15354B"/>
                      </a:solidFill>
                    </a:lnL>
                    <a:lnR w="9525" cmpd="sng">
                      <a:solidFill>
                        <a:srgbClr val="15354B"/>
                      </a:solidFill>
                    </a:lnR>
                    <a:lnT w="9525" cmpd="sng">
                      <a:solidFill>
                        <a:srgbClr val="15354B"/>
                      </a:solidFill>
                    </a:lnT>
                    <a:lnB w="9525" cmpd="sng">
                      <a:solidFill>
                        <a:srgbClr val="15354B"/>
                      </a:solidFill>
                    </a:lnB>
                    <a:solidFill>
                      <a:srgbClr val="1535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Key Findings</a:t>
                      </a:r>
                    </a:p>
                  </a:txBody>
                  <a:tcPr marL="50800" marR="50800" marT="19050" marB="19050" anchor="ctr">
                    <a:lnL w="9525" cmpd="sng">
                      <a:solidFill>
                        <a:srgbClr val="15354B"/>
                      </a:solidFill>
                    </a:lnL>
                    <a:lnR w="9525" cmpd="sng">
                      <a:solidFill>
                        <a:srgbClr val="15354B"/>
                      </a:solidFill>
                    </a:lnR>
                    <a:lnT w="9525" cmpd="sng">
                      <a:solidFill>
                        <a:srgbClr val="15354B"/>
                      </a:solidFill>
                    </a:lnT>
                    <a:lnB w="9525" cmpd="sng">
                      <a:solidFill>
                        <a:srgbClr val="15354B"/>
                      </a:solidFill>
                    </a:lnB>
                    <a:solidFill>
                      <a:srgbClr val="1535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Limitations</a:t>
                      </a:r>
                    </a:p>
                  </a:txBody>
                  <a:tcPr marL="50800" marR="50800" marT="19050" marB="19050" anchor="ctr">
                    <a:lnL w="9525" cmpd="sng">
                      <a:solidFill>
                        <a:srgbClr val="15354B"/>
                      </a:solidFill>
                    </a:lnL>
                    <a:lnR w="9525" cmpd="sng">
                      <a:solidFill>
                        <a:srgbClr val="15354B"/>
                      </a:solidFill>
                    </a:lnR>
                    <a:lnT w="9525" cmpd="sng">
                      <a:solidFill>
                        <a:srgbClr val="15354B"/>
                      </a:solidFill>
                    </a:lnT>
                    <a:lnB w="9525" cmpd="sng">
                      <a:solidFill>
                        <a:srgbClr val="15354B"/>
                      </a:solidFill>
                    </a:lnB>
                    <a:solidFill>
                      <a:srgbClr val="15354B"/>
                    </a:solidFill>
                  </a:tcPr>
                </a:tc>
              </a:tr>
              <a:tr h="302704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5354B"/>
                          </a:solidFill>
                          <a:latin typeface="Arial"/>
                        </a:rPr>
                        <a:t>Chokkalingam &amp; Ganesan (2026)</a:t>
                      </a:r>
                    </a:p>
                  </a:txBody>
                  <a:tcPr marL="50800" marR="50800" marT="19050" marB="19050" anchor="ctr">
                    <a:lnL w="9525" cmpd="sng">
                      <a:solidFill>
                        <a:srgbClr val="6F7F8C"/>
                      </a:solidFill>
                    </a:lnL>
                    <a:lnR w="9525" cmpd="sng">
                      <a:solidFill>
                        <a:srgbClr val="6F7F8C"/>
                      </a:solidFill>
                    </a:lnR>
                    <a:lnT w="9525" cmpd="sng">
                      <a:solidFill>
                        <a:srgbClr val="6F7F8C"/>
                      </a:solidFill>
                    </a:lnT>
                    <a:lnB w="9525" cmpd="sng">
                      <a:solidFill>
                        <a:srgbClr val="6F7F8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5354B"/>
                          </a:solidFill>
                          <a:latin typeface="Arial"/>
                        </a:rPr>
                        <a:t>POPSO with Pareto-entropy archive</a:t>
                      </a:r>
                    </a:p>
                  </a:txBody>
                  <a:tcPr marL="50800" marR="50800" marT="19050" marB="19050" anchor="ctr">
                    <a:lnL w="9525" cmpd="sng">
                      <a:solidFill>
                        <a:srgbClr val="6F7F8C"/>
                      </a:solidFill>
                    </a:lnL>
                    <a:lnR w="9525" cmpd="sng">
                      <a:solidFill>
                        <a:srgbClr val="6F7F8C"/>
                      </a:solidFill>
                    </a:lnR>
                    <a:lnT w="9525" cmpd="sng">
                      <a:solidFill>
                        <a:srgbClr val="6F7F8C"/>
                      </a:solidFill>
                    </a:lnT>
                    <a:lnB w="9525" cmpd="sng">
                      <a:solidFill>
                        <a:srgbClr val="6F7F8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5354B"/>
                          </a:solidFill>
                          <a:latin typeface="Arial"/>
                        </a:rPr>
                        <a:t>Well-spread fronts; better path efficiency and safety</a:t>
                      </a:r>
                    </a:p>
                  </a:txBody>
                  <a:tcPr marL="50800" marR="50800" marT="19050" marB="19050" anchor="ctr">
                    <a:lnL w="9525" cmpd="sng">
                      <a:solidFill>
                        <a:srgbClr val="6F7F8C"/>
                      </a:solidFill>
                    </a:lnL>
                    <a:lnR w="9525" cmpd="sng">
                      <a:solidFill>
                        <a:srgbClr val="6F7F8C"/>
                      </a:solidFill>
                    </a:lnR>
                    <a:lnT w="9525" cmpd="sng">
                      <a:solidFill>
                        <a:srgbClr val="6F7F8C"/>
                      </a:solidFill>
                    </a:lnT>
                    <a:lnB w="9525" cmpd="sng">
                      <a:solidFill>
                        <a:srgbClr val="6F7F8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5354B"/>
                          </a:solidFill>
                          <a:latin typeface="Arial"/>
                        </a:rPr>
                        <a:t>Final pick by hand-set weighted sum; wind is speed-only; no payload</a:t>
                      </a:r>
                    </a:p>
                  </a:txBody>
                  <a:tcPr marL="50800" marR="50800" marT="19050" marB="19050" anchor="ctr">
                    <a:lnL w="9525" cmpd="sng">
                      <a:solidFill>
                        <a:srgbClr val="6F7F8C"/>
                      </a:solidFill>
                    </a:lnL>
                    <a:lnR w="9525" cmpd="sng">
                      <a:solidFill>
                        <a:srgbClr val="6F7F8C"/>
                      </a:solidFill>
                    </a:lnR>
                    <a:lnT w="9525" cmpd="sng">
                      <a:solidFill>
                        <a:srgbClr val="6F7F8C"/>
                      </a:solidFill>
                    </a:lnT>
                    <a:lnB w="9525" cmpd="sng">
                      <a:solidFill>
                        <a:srgbClr val="6F7F8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2704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5354B"/>
                          </a:solidFill>
                          <a:latin typeface="Arial"/>
                        </a:rPr>
                        <a:t>Ren et al. (2019)</a:t>
                      </a:r>
                    </a:p>
                  </a:txBody>
                  <a:tcPr marL="50800" marR="50800" marT="19050" marB="19050" anchor="ctr">
                    <a:lnL w="9525" cmpd="sng">
                      <a:solidFill>
                        <a:srgbClr val="6F7F8C"/>
                      </a:solidFill>
                    </a:lnL>
                    <a:lnR w="9525" cmpd="sng">
                      <a:solidFill>
                        <a:srgbClr val="6F7F8C"/>
                      </a:solidFill>
                    </a:lnR>
                    <a:lnT w="9525" cmpd="sng">
                      <a:solidFill>
                        <a:srgbClr val="6F7F8C"/>
                      </a:solidFill>
                    </a:lnT>
                    <a:lnB w="9525" cmpd="sng">
                      <a:solidFill>
                        <a:srgbClr val="6F7F8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5354B"/>
                          </a:solidFill>
                          <a:latin typeface="Arial"/>
                        </a:rPr>
                        <a:t>CDNSGA-II over an octree city model</a:t>
                      </a:r>
                    </a:p>
                  </a:txBody>
                  <a:tcPr marL="50800" marR="50800" marT="19050" marB="19050" anchor="ctr">
                    <a:lnL w="9525" cmpd="sng">
                      <a:solidFill>
                        <a:srgbClr val="6F7F8C"/>
                      </a:solidFill>
                    </a:lnL>
                    <a:lnR w="9525" cmpd="sng">
                      <a:solidFill>
                        <a:srgbClr val="6F7F8C"/>
                      </a:solidFill>
                    </a:lnR>
                    <a:lnT w="9525" cmpd="sng">
                      <a:solidFill>
                        <a:srgbClr val="6F7F8C"/>
                      </a:solidFill>
                    </a:lnT>
                    <a:lnB w="9525" cmpd="sng">
                      <a:solidFill>
                        <a:srgbClr val="6F7F8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5354B"/>
                          </a:solidFill>
                          <a:latin typeface="Arial"/>
                        </a:rPr>
                        <a:t>Spread-out, collision-free distance/safety paths</a:t>
                      </a:r>
                    </a:p>
                  </a:txBody>
                  <a:tcPr marL="50800" marR="50800" marT="19050" marB="19050" anchor="ctr">
                    <a:lnL w="9525" cmpd="sng">
                      <a:solidFill>
                        <a:srgbClr val="6F7F8C"/>
                      </a:solidFill>
                    </a:lnL>
                    <a:lnR w="9525" cmpd="sng">
                      <a:solidFill>
                        <a:srgbClr val="6F7F8C"/>
                      </a:solidFill>
                    </a:lnR>
                    <a:lnT w="9525" cmpd="sng">
                      <a:solidFill>
                        <a:srgbClr val="6F7F8C"/>
                      </a:solidFill>
                    </a:lnT>
                    <a:lnB w="9525" cmpd="sng">
                      <a:solidFill>
                        <a:srgbClr val="6F7F8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5354B"/>
                          </a:solidFill>
                          <a:latin typeface="Arial"/>
                        </a:rPr>
                        <a:t>Pick by crowding distance only; no mission context or wind</a:t>
                      </a:r>
                    </a:p>
                  </a:txBody>
                  <a:tcPr marL="50800" marR="50800" marT="19050" marB="19050" anchor="ctr">
                    <a:lnL w="9525" cmpd="sng">
                      <a:solidFill>
                        <a:srgbClr val="6F7F8C"/>
                      </a:solidFill>
                    </a:lnL>
                    <a:lnR w="9525" cmpd="sng">
                      <a:solidFill>
                        <a:srgbClr val="6F7F8C"/>
                      </a:solidFill>
                    </a:lnR>
                    <a:lnT w="9525" cmpd="sng">
                      <a:solidFill>
                        <a:srgbClr val="6F7F8C"/>
                      </a:solidFill>
                    </a:lnT>
                    <a:lnB w="9525" cmpd="sng">
                      <a:solidFill>
                        <a:srgbClr val="6F7F8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2704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5354B"/>
                          </a:solidFill>
                          <a:latin typeface="Arial"/>
                        </a:rPr>
                        <a:t>Deng et al. (2026)</a:t>
                      </a:r>
                    </a:p>
                  </a:txBody>
                  <a:tcPr marL="50800" marR="50800" marT="19050" marB="19050" anchor="ctr">
                    <a:lnL w="9525" cmpd="sng">
                      <a:solidFill>
                        <a:srgbClr val="6F7F8C"/>
                      </a:solidFill>
                    </a:lnL>
                    <a:lnR w="9525" cmpd="sng">
                      <a:solidFill>
                        <a:srgbClr val="6F7F8C"/>
                      </a:solidFill>
                    </a:lnR>
                    <a:lnT w="9525" cmpd="sng">
                      <a:solidFill>
                        <a:srgbClr val="6F7F8C"/>
                      </a:solidFill>
                    </a:lnT>
                    <a:lnB w="9525" cmpd="sng">
                      <a:solidFill>
                        <a:srgbClr val="6F7F8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5354B"/>
                          </a:solidFill>
                          <a:latin typeface="Arial"/>
                        </a:rPr>
                        <a:t>MS-INSGA2: adaptive operators + local search</a:t>
                      </a:r>
                    </a:p>
                  </a:txBody>
                  <a:tcPr marL="50800" marR="50800" marT="19050" marB="19050" anchor="ctr">
                    <a:lnL w="9525" cmpd="sng">
                      <a:solidFill>
                        <a:srgbClr val="6F7F8C"/>
                      </a:solidFill>
                    </a:lnL>
                    <a:lnR w="9525" cmpd="sng">
                      <a:solidFill>
                        <a:srgbClr val="6F7F8C"/>
                      </a:solidFill>
                    </a:lnR>
                    <a:lnT w="9525" cmpd="sng">
                      <a:solidFill>
                        <a:srgbClr val="6F7F8C"/>
                      </a:solidFill>
                    </a:lnT>
                    <a:lnB w="9525" cmpd="sng">
                      <a:solidFill>
                        <a:srgbClr val="6F7F8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5354B"/>
                          </a:solidFill>
                          <a:latin typeface="Arial"/>
                        </a:rPr>
                        <a:t>Beat 11 algorithms on 3-D planning tasks</a:t>
                      </a:r>
                    </a:p>
                  </a:txBody>
                  <a:tcPr marL="50800" marR="50800" marT="19050" marB="19050" anchor="ctr">
                    <a:lnL w="9525" cmpd="sng">
                      <a:solidFill>
                        <a:srgbClr val="6F7F8C"/>
                      </a:solidFill>
                    </a:lnL>
                    <a:lnR w="9525" cmpd="sng">
                      <a:solidFill>
                        <a:srgbClr val="6F7F8C"/>
                      </a:solidFill>
                    </a:lnR>
                    <a:lnT w="9525" cmpd="sng">
                      <a:solidFill>
                        <a:srgbClr val="6F7F8C"/>
                      </a:solidFill>
                    </a:lnT>
                    <a:lnB w="9525" cmpd="sng">
                      <a:solidFill>
                        <a:srgbClr val="6F7F8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5354B"/>
                          </a:solidFill>
                          <a:latin typeface="Arial"/>
                        </a:rPr>
                        <a:t>No payload context; wind left to future work; front rebuilt per task</a:t>
                      </a:r>
                    </a:p>
                  </a:txBody>
                  <a:tcPr marL="50800" marR="50800" marT="19050" marB="19050" anchor="ctr">
                    <a:lnL w="9525" cmpd="sng">
                      <a:solidFill>
                        <a:srgbClr val="6F7F8C"/>
                      </a:solidFill>
                    </a:lnL>
                    <a:lnR w="9525" cmpd="sng">
                      <a:solidFill>
                        <a:srgbClr val="6F7F8C"/>
                      </a:solidFill>
                    </a:lnR>
                    <a:lnT w="9525" cmpd="sng">
                      <a:solidFill>
                        <a:srgbClr val="6F7F8C"/>
                      </a:solidFill>
                    </a:lnT>
                    <a:lnB w="9525" cmpd="sng">
                      <a:solidFill>
                        <a:srgbClr val="6F7F8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2704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5354B"/>
                          </a:solidFill>
                          <a:latin typeface="Arial"/>
                        </a:rPr>
                        <a:t>Mandow &amp; Pérez de la Cruz (2010)</a:t>
                      </a:r>
                    </a:p>
                  </a:txBody>
                  <a:tcPr marL="50800" marR="50800" marT="19050" marB="19050" anchor="ctr">
                    <a:lnL w="9525" cmpd="sng">
                      <a:solidFill>
                        <a:srgbClr val="6F7F8C"/>
                      </a:solidFill>
                    </a:lnL>
                    <a:lnR w="9525" cmpd="sng">
                      <a:solidFill>
                        <a:srgbClr val="6F7F8C"/>
                      </a:solidFill>
                    </a:lnR>
                    <a:lnT w="9525" cmpd="sng">
                      <a:solidFill>
                        <a:srgbClr val="6F7F8C"/>
                      </a:solidFill>
                    </a:lnT>
                    <a:lnB w="9525" cmpd="sng">
                      <a:solidFill>
                        <a:srgbClr val="6F7F8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5354B"/>
                          </a:solidFill>
                          <a:latin typeface="Arial"/>
                        </a:rPr>
                        <a:t>NAMOA*: label-based multi-objective A*</a:t>
                      </a:r>
                    </a:p>
                  </a:txBody>
                  <a:tcPr marL="50800" marR="50800" marT="19050" marB="19050" anchor="ctr">
                    <a:lnL w="9525" cmpd="sng">
                      <a:solidFill>
                        <a:srgbClr val="6F7F8C"/>
                      </a:solidFill>
                    </a:lnL>
                    <a:lnR w="9525" cmpd="sng">
                      <a:solidFill>
                        <a:srgbClr val="6F7F8C"/>
                      </a:solidFill>
                    </a:lnR>
                    <a:lnT w="9525" cmpd="sng">
                      <a:solidFill>
                        <a:srgbClr val="6F7F8C"/>
                      </a:solidFill>
                    </a:lnT>
                    <a:lnB w="9525" cmpd="sng">
                      <a:solidFill>
                        <a:srgbClr val="6F7F8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5354B"/>
                          </a:solidFill>
                          <a:latin typeface="Arial"/>
                        </a:rPr>
                        <a:t>Exact Pareto front with admissible heuristics</a:t>
                      </a:r>
                    </a:p>
                  </a:txBody>
                  <a:tcPr marL="50800" marR="50800" marT="19050" marB="19050" anchor="ctr">
                    <a:lnL w="9525" cmpd="sng">
                      <a:solidFill>
                        <a:srgbClr val="6F7F8C"/>
                      </a:solidFill>
                    </a:lnL>
                    <a:lnR w="9525" cmpd="sng">
                      <a:solidFill>
                        <a:srgbClr val="6F7F8C"/>
                      </a:solidFill>
                    </a:lnR>
                    <a:lnT w="9525" cmpd="sng">
                      <a:solidFill>
                        <a:srgbClr val="6F7F8C"/>
                      </a:solidFill>
                    </a:lnT>
                    <a:lnB w="9525" cmpd="sng">
                      <a:solidFill>
                        <a:srgbClr val="6F7F8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5354B"/>
                          </a:solidFill>
                          <a:latin typeface="Arial"/>
                        </a:rPr>
                        <a:t>Says nothing about which route to fly</a:t>
                      </a:r>
                    </a:p>
                  </a:txBody>
                  <a:tcPr marL="50800" marR="50800" marT="19050" marB="19050" anchor="ctr">
                    <a:lnL w="9525" cmpd="sng">
                      <a:solidFill>
                        <a:srgbClr val="6F7F8C"/>
                      </a:solidFill>
                    </a:lnL>
                    <a:lnR w="9525" cmpd="sng">
                      <a:solidFill>
                        <a:srgbClr val="6F7F8C"/>
                      </a:solidFill>
                    </a:lnR>
                    <a:lnT w="9525" cmpd="sng">
                      <a:solidFill>
                        <a:srgbClr val="6F7F8C"/>
                      </a:solidFill>
                    </a:lnT>
                    <a:lnB w="9525" cmpd="sng">
                      <a:solidFill>
                        <a:srgbClr val="6F7F8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2704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5354B"/>
                          </a:solidFill>
                          <a:latin typeface="Arial"/>
                        </a:rPr>
                        <a:t>Tsoutsouras et al. (2020)</a:t>
                      </a:r>
                    </a:p>
                  </a:txBody>
                  <a:tcPr marL="50800" marR="50800" marT="19050" marB="19050" anchor="ctr">
                    <a:lnL w="9525" cmpd="sng">
                      <a:solidFill>
                        <a:srgbClr val="6F7F8C"/>
                      </a:solidFill>
                    </a:lnL>
                    <a:lnR w="9525" cmpd="sng">
                      <a:solidFill>
                        <a:srgbClr val="6F7F8C"/>
                      </a:solidFill>
                    </a:lnR>
                    <a:lnT w="9525" cmpd="sng">
                      <a:solidFill>
                        <a:srgbClr val="6F7F8C"/>
                      </a:solidFill>
                    </a:lnT>
                    <a:lnB w="9525" cmpd="sng">
                      <a:solidFill>
                        <a:srgbClr val="6F7F8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5354B"/>
                          </a:solidFill>
                          <a:latin typeface="Arial"/>
                        </a:rPr>
                        <a:t>Mass- and speed-aware power model, multi-drop planning</a:t>
                      </a:r>
                    </a:p>
                  </a:txBody>
                  <a:tcPr marL="50800" marR="50800" marT="19050" marB="19050" anchor="ctr">
                    <a:lnL w="9525" cmpd="sng">
                      <a:solidFill>
                        <a:srgbClr val="6F7F8C"/>
                      </a:solidFill>
                    </a:lnL>
                    <a:lnR w="9525" cmpd="sng">
                      <a:solidFill>
                        <a:srgbClr val="6F7F8C"/>
                      </a:solidFill>
                    </a:lnR>
                    <a:lnT w="9525" cmpd="sng">
                      <a:solidFill>
                        <a:srgbClr val="6F7F8C"/>
                      </a:solidFill>
                    </a:lnT>
                    <a:lnB w="9525" cmpd="sng">
                      <a:solidFill>
                        <a:srgbClr val="6F7F8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5354B"/>
                          </a:solidFill>
                          <a:latin typeface="Arial"/>
                        </a:rPr>
                        <a:t>Near-optimal on-board trajectories in ~320 ms</a:t>
                      </a:r>
                    </a:p>
                  </a:txBody>
                  <a:tcPr marL="50800" marR="50800" marT="19050" marB="19050" anchor="ctr">
                    <a:lnL w="9525" cmpd="sng">
                      <a:solidFill>
                        <a:srgbClr val="6F7F8C"/>
                      </a:solidFill>
                    </a:lnL>
                    <a:lnR w="9525" cmpd="sng">
                      <a:solidFill>
                        <a:srgbClr val="6F7F8C"/>
                      </a:solidFill>
                    </a:lnR>
                    <a:lnT w="9525" cmpd="sng">
                      <a:solidFill>
                        <a:srgbClr val="6F7F8C"/>
                      </a:solidFill>
                    </a:lnT>
                    <a:lnB w="9525" cmpd="sng">
                      <a:solidFill>
                        <a:srgbClr val="6F7F8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5354B"/>
                          </a:solidFill>
                          <a:latin typeface="Arial"/>
                        </a:rPr>
                        <a:t>One trajectory, no front; mass is physical, not a selector</a:t>
                      </a:r>
                    </a:p>
                  </a:txBody>
                  <a:tcPr marL="50800" marR="50800" marT="19050" marB="19050" anchor="ctr">
                    <a:lnL w="9525" cmpd="sng">
                      <a:solidFill>
                        <a:srgbClr val="6F7F8C"/>
                      </a:solidFill>
                    </a:lnL>
                    <a:lnR w="9525" cmpd="sng">
                      <a:solidFill>
                        <a:srgbClr val="6F7F8C"/>
                      </a:solidFill>
                    </a:lnR>
                    <a:lnT w="9525" cmpd="sng">
                      <a:solidFill>
                        <a:srgbClr val="6F7F8C"/>
                      </a:solidFill>
                    </a:lnT>
                    <a:lnB w="9525" cmpd="sng">
                      <a:solidFill>
                        <a:srgbClr val="6F7F8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9" name="Research Gap Text"/>
          <p:cNvSpPr txBox="1"/>
          <p:nvPr/>
        </p:nvSpPr>
        <p:spPr>
          <a:xfrm>
            <a:off x="567570" y="13659540"/>
            <a:ext cx="8324373" cy="25540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  <a:spcBef>
                <a:spcPts val="400"/>
              </a:spcBef>
            </a:pPr>
            <a:r>
              <a:rPr sz="2000" b="1">
                <a:solidFill>
                  <a:srgbClr val="087F8C"/>
                </a:solidFill>
                <a:latin typeface="Arial"/>
              </a:rPr>
              <a:t>Research gap</a:t>
            </a:r>
          </a:p>
          <a:p>
            <a:pPr algn="l">
              <a:lnSpc>
                <a:spcPts val="2250"/>
              </a:lnSpc>
            </a:pPr>
            <a:r>
              <a:rPr sz="1800" b="1">
                <a:solidFill>
                  <a:srgbClr val="15354B"/>
                </a:solidFill>
                <a:latin typeface="Arial"/>
              </a:rPr>
              <a:t>Gap 1 </a:t>
            </a:r>
            <a:r>
              <a:rPr sz="1800" b="0">
                <a:solidFill>
                  <a:srgbClr val="15354B"/>
                </a:solidFill>
                <a:latin typeface="Arial"/>
              </a:rPr>
              <a:t>No payload-aware selection: fixed rule, hand-tuned sum, or none</a:t>
            </a:r>
          </a:p>
          <a:p>
            <a:pPr algn="l">
              <a:lnSpc>
                <a:spcPts val="2250"/>
              </a:lnSpc>
            </a:pPr>
            <a:r>
              <a:rPr sz="1800" b="1">
                <a:solidFill>
                  <a:srgbClr val="15354B"/>
                </a:solidFill>
                <a:latin typeface="Arial"/>
              </a:rPr>
              <a:t>Gap 2 </a:t>
            </a:r>
            <a:r>
              <a:rPr sz="1800" b="0">
                <a:solidFill>
                  <a:srgbClr val="15354B"/>
                </a:solidFill>
                <a:latin typeface="Arial"/>
              </a:rPr>
              <a:t>No front reuse: search is re-run whenever the mission changes</a:t>
            </a:r>
          </a:p>
          <a:p>
            <a:pPr algn="l">
              <a:lnSpc>
                <a:spcPts val="2250"/>
              </a:lnSpc>
            </a:pPr>
            <a:r>
              <a:rPr sz="1800" b="1">
                <a:solidFill>
                  <a:srgbClr val="15354B"/>
                </a:solidFill>
                <a:latin typeface="Arial"/>
              </a:rPr>
              <a:t>Gap 3 </a:t>
            </a:r>
            <a:r>
              <a:rPr sz="1800" b="0">
                <a:solidFill>
                  <a:srgbClr val="15354B"/>
                </a:solidFill>
                <a:latin typeface="Arial"/>
              </a:rPr>
              <a:t>No explicit mapping from payload description to trade-off</a:t>
            </a:r>
          </a:p>
          <a:p>
            <a:pPr algn="l">
              <a:lnSpc>
                <a:spcPts val="2250"/>
              </a:lnSpc>
            </a:pPr>
            <a:r>
              <a:rPr sz="1800" b="1">
                <a:solidFill>
                  <a:srgbClr val="15354B"/>
                </a:solidFill>
                <a:latin typeface="Arial"/>
              </a:rPr>
              <a:t>Gap 4 </a:t>
            </a:r>
            <a:r>
              <a:rPr sz="1800" b="0">
                <a:solidFill>
                  <a:srgbClr val="15354B"/>
                </a:solidFill>
                <a:latin typeface="Arial"/>
              </a:rPr>
              <a:t>Wind direction not modelled per edge; fronts carry no weather record</a:t>
            </a:r>
          </a:p>
          <a:p>
            <a:pPr algn="l">
              <a:lnSpc>
                <a:spcPts val="2250"/>
              </a:lnSpc>
              <a:spcBef>
                <a:spcPts val="300"/>
              </a:spcBef>
            </a:pPr>
            <a:r>
              <a:rPr sz="1800" b="1">
                <a:solidFill>
                  <a:srgbClr val="087F8C"/>
                </a:solidFill>
                <a:latin typeface="Arial"/>
              </a:rPr>
              <a:t>Our work: </a:t>
            </a:r>
            <a:r>
              <a:rPr sz="1800" b="0">
                <a:solidFill>
                  <a:srgbClr val="15354B"/>
                </a:solidFill>
                <a:latin typeface="Arial"/>
              </a:rPr>
              <a:t>Tier 1 builds an exact front once per region and weather window; Tier 2 turns payload tags into weights and picks the best route from that stored front.</a:t>
            </a:r>
          </a:p>
        </p:txBody>
      </p:sp>
      <p:sp>
        <p:nvSpPr>
          <p:cNvPr id="40" name="Evaluation Metrics">
            <a:extLst>
              <a:ext uri="{FF2B5EF4-FFF2-40B4-BE49-F238E27FC236}">
                <a16:creationId xmlns:a16="http://schemas.microsoft.com/office/drawing/2014/main" id="{75745C2B-38B5-4B73-945F-5B1E00D6EB36}"/>
              </a:ext>
            </a:extLst>
          </p:cNvPr>
          <p:cNvSpPr>
            <a:spLocks noGrp="1"/>
          </p:cNvSpPr>
          <p:nvPr/>
        </p:nvSpPr>
        <p:spPr>
          <a:xfrm>
            <a:off x="454056" y="16119014"/>
            <a:ext cx="8513564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3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3300" b="1" dirty="0">
                <a:solidFill>
                  <a:srgbClr val="087F8C"/>
                </a:solidFill>
                <a:latin typeface="Arial"/>
                <a:ea typeface="Arial"/>
                <a:cs typeface="Arial"/>
              </a:rPr>
              <a:t>Evaluation Metrics</a:t>
            </a:r>
          </a:p>
        </p:txBody>
      </p:sp>
      <p:sp>
        <p:nvSpPr>
          <p:cNvPr id="41" name="Metrics Note"/>
          <p:cNvSpPr txBox="1"/>
          <p:nvPr/>
        </p:nvSpPr>
        <p:spPr>
          <a:xfrm>
            <a:off x="567570" y="16781180"/>
            <a:ext cx="8324373" cy="378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00"/>
              </a:lnSpc>
            </a:pPr>
            <a:r>
              <a:rPr sz="1550" b="0">
                <a:solidFill>
                  <a:srgbClr val="506575"/>
                </a:solidFill>
                <a:latin typeface="Arial"/>
              </a:rPr>
              <a:t>Reference front = non-dominated union of every route found by every method; objectives min–max normalised.</a:t>
            </a:r>
          </a:p>
        </p:txBody>
      </p:sp>
      <p:graphicFrame>
        <p:nvGraphicFramePr>
          <p:cNvPr id="42" name="Evaluation Metrics Table"/>
          <p:cNvGraphicFramePr>
            <a:graphicFrameLocks noGrp="1"/>
          </p:cNvGraphicFramePr>
          <p:nvPr/>
        </p:nvGraphicFramePr>
        <p:xfrm>
          <a:off x="567570" y="17405508"/>
          <a:ext cx="8324372" cy="1986495"/>
        </p:xfrm>
        <a:graphic>
          <a:graphicData uri="http://schemas.openxmlformats.org/drawingml/2006/table">
            <a:tbl>
              <a:tblPr firstRow="1" bandRow="0"/>
              <a:tblGrid>
                <a:gridCol w="1967579"/>
                <a:gridCol w="4805433"/>
                <a:gridCol w="1551360"/>
              </a:tblGrid>
              <a:tr h="283785"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50800" marR="50800" marT="19050" marB="19050" anchor="ctr">
                    <a:lnL w="9525" cmpd="sng">
                      <a:solidFill>
                        <a:srgbClr val="15354B"/>
                      </a:solidFill>
                    </a:lnL>
                    <a:lnR w="9525" cmpd="sng">
                      <a:solidFill>
                        <a:srgbClr val="15354B"/>
                      </a:solidFill>
                    </a:lnR>
                    <a:lnT w="9525" cmpd="sng">
                      <a:solidFill>
                        <a:srgbClr val="15354B"/>
                      </a:solidFill>
                    </a:lnT>
                    <a:lnB w="9525" cmpd="sng">
                      <a:solidFill>
                        <a:srgbClr val="15354B"/>
                      </a:solidFill>
                    </a:lnB>
                    <a:solidFill>
                      <a:srgbClr val="1535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</a:rPr>
                        <a:t>What it measures</a:t>
                      </a:r>
                    </a:p>
                  </a:txBody>
                  <a:tcPr marL="50800" marR="50800" marT="19050" marB="19050" anchor="ctr">
                    <a:lnL w="9525" cmpd="sng">
                      <a:solidFill>
                        <a:srgbClr val="15354B"/>
                      </a:solidFill>
                    </a:lnL>
                    <a:lnR w="9525" cmpd="sng">
                      <a:solidFill>
                        <a:srgbClr val="15354B"/>
                      </a:solidFill>
                    </a:lnR>
                    <a:lnT w="9525" cmpd="sng">
                      <a:solidFill>
                        <a:srgbClr val="15354B"/>
                      </a:solidFill>
                    </a:lnT>
                    <a:lnB w="9525" cmpd="sng">
                      <a:solidFill>
                        <a:srgbClr val="15354B"/>
                      </a:solidFill>
                    </a:lnB>
                    <a:solidFill>
                      <a:srgbClr val="1535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</a:rPr>
                        <a:t>Better</a:t>
                      </a:r>
                    </a:p>
                  </a:txBody>
                  <a:tcPr marL="50800" marR="50800" marT="19050" marB="19050" anchor="ctr">
                    <a:lnL w="9525" cmpd="sng">
                      <a:solidFill>
                        <a:srgbClr val="15354B"/>
                      </a:solidFill>
                    </a:lnL>
                    <a:lnR w="9525" cmpd="sng">
                      <a:solidFill>
                        <a:srgbClr val="15354B"/>
                      </a:solidFill>
                    </a:lnR>
                    <a:lnT w="9525" cmpd="sng">
                      <a:solidFill>
                        <a:srgbClr val="15354B"/>
                      </a:solidFill>
                    </a:lnT>
                    <a:lnB w="9525" cmpd="sng">
                      <a:solidFill>
                        <a:srgbClr val="15354B"/>
                      </a:solidFill>
                    </a:lnB>
                    <a:solidFill>
                      <a:srgbClr val="15354B"/>
                    </a:solidFill>
                  </a:tcPr>
                </a:tc>
              </a:tr>
              <a:tr h="283785"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15354B"/>
                          </a:solidFill>
                          <a:latin typeface="Arial"/>
                        </a:rPr>
                        <a:t>Hypervolume (HV)</a:t>
                      </a:r>
                    </a:p>
                  </a:txBody>
                  <a:tcPr marL="50800" marR="50800" marT="19050" marB="19050" anchor="ctr">
                    <a:lnL w="9525" cmpd="sng">
                      <a:solidFill>
                        <a:srgbClr val="C9D3DB"/>
                      </a:solidFill>
                    </a:lnL>
                    <a:lnR w="9525" cmpd="sng">
                      <a:solidFill>
                        <a:srgbClr val="C9D3DB"/>
                      </a:solidFill>
                    </a:lnR>
                    <a:lnT w="9525" cmpd="sng">
                      <a:solidFill>
                        <a:srgbClr val="C9D3DB"/>
                      </a:solidFill>
                    </a:lnT>
                    <a:lnB w="9525" cmpd="sng">
                      <a:solidFill>
                        <a:srgbClr val="C9D3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5354B"/>
                          </a:solidFill>
                          <a:latin typeface="Arial"/>
                        </a:rPr>
                        <a:t>Objective space the front dominates, up to reference point [1.1, 1.1, 1.1]</a:t>
                      </a:r>
                    </a:p>
                  </a:txBody>
                  <a:tcPr marL="50800" marR="50800" marT="19050" marB="19050" anchor="ctr">
                    <a:lnL w="9525" cmpd="sng">
                      <a:solidFill>
                        <a:srgbClr val="C9D3DB"/>
                      </a:solidFill>
                    </a:lnL>
                    <a:lnR w="9525" cmpd="sng">
                      <a:solidFill>
                        <a:srgbClr val="C9D3DB"/>
                      </a:solidFill>
                    </a:lnR>
                    <a:lnT w="9525" cmpd="sng">
                      <a:solidFill>
                        <a:srgbClr val="C9D3DB"/>
                      </a:solidFill>
                    </a:lnT>
                    <a:lnB w="9525" cmpd="sng">
                      <a:solidFill>
                        <a:srgbClr val="C9D3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15354B"/>
                          </a:solidFill>
                          <a:latin typeface="Arial"/>
                        </a:rPr>
                        <a:t>Higher</a:t>
                      </a:r>
                    </a:p>
                  </a:txBody>
                  <a:tcPr marL="50800" marR="50800" marT="19050" marB="19050" anchor="ctr">
                    <a:lnL w="9525" cmpd="sng">
                      <a:solidFill>
                        <a:srgbClr val="C9D3DB"/>
                      </a:solidFill>
                    </a:lnL>
                    <a:lnR w="9525" cmpd="sng">
                      <a:solidFill>
                        <a:srgbClr val="C9D3DB"/>
                      </a:solidFill>
                    </a:lnR>
                    <a:lnT w="9525" cmpd="sng">
                      <a:solidFill>
                        <a:srgbClr val="C9D3DB"/>
                      </a:solidFill>
                    </a:lnT>
                    <a:lnB w="9525" cmpd="sng">
                      <a:solidFill>
                        <a:srgbClr val="C9D3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3785"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15354B"/>
                          </a:solidFill>
                          <a:latin typeface="Arial"/>
                        </a:rPr>
                        <a:t>IGD</a:t>
                      </a:r>
                    </a:p>
                  </a:txBody>
                  <a:tcPr marL="50800" marR="50800" marT="19050" marB="19050" anchor="ctr">
                    <a:lnL w="9525" cmpd="sng">
                      <a:solidFill>
                        <a:srgbClr val="C9D3DB"/>
                      </a:solidFill>
                    </a:lnL>
                    <a:lnR w="9525" cmpd="sng">
                      <a:solidFill>
                        <a:srgbClr val="C9D3DB"/>
                      </a:solidFill>
                    </a:lnR>
                    <a:lnT w="9525" cmpd="sng">
                      <a:solidFill>
                        <a:srgbClr val="C9D3DB"/>
                      </a:solidFill>
                    </a:lnT>
                    <a:lnB w="9525" cmpd="sng">
                      <a:solidFill>
                        <a:srgbClr val="C9D3DB"/>
                      </a:solidFill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5354B"/>
                          </a:solidFill>
                          <a:latin typeface="Arial"/>
                        </a:rPr>
                        <a:t>Mean distance from each reference route to the nearest found route</a:t>
                      </a:r>
                    </a:p>
                  </a:txBody>
                  <a:tcPr marL="50800" marR="50800" marT="19050" marB="19050" anchor="ctr">
                    <a:lnL w="9525" cmpd="sng">
                      <a:solidFill>
                        <a:srgbClr val="C9D3DB"/>
                      </a:solidFill>
                    </a:lnL>
                    <a:lnR w="9525" cmpd="sng">
                      <a:solidFill>
                        <a:srgbClr val="C9D3DB"/>
                      </a:solidFill>
                    </a:lnR>
                    <a:lnT w="9525" cmpd="sng">
                      <a:solidFill>
                        <a:srgbClr val="C9D3DB"/>
                      </a:solidFill>
                    </a:lnT>
                    <a:lnB w="9525" cmpd="sng">
                      <a:solidFill>
                        <a:srgbClr val="C9D3DB"/>
                      </a:solidFill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15354B"/>
                          </a:solidFill>
                          <a:latin typeface="Arial"/>
                        </a:rPr>
                        <a:t>Lower; 0 = exact</a:t>
                      </a:r>
                    </a:p>
                  </a:txBody>
                  <a:tcPr marL="50800" marR="50800" marT="19050" marB="19050" anchor="ctr">
                    <a:lnL w="9525" cmpd="sng">
                      <a:solidFill>
                        <a:srgbClr val="C9D3DB"/>
                      </a:solidFill>
                    </a:lnL>
                    <a:lnR w="9525" cmpd="sng">
                      <a:solidFill>
                        <a:srgbClr val="C9D3DB"/>
                      </a:solidFill>
                    </a:lnR>
                    <a:lnT w="9525" cmpd="sng">
                      <a:solidFill>
                        <a:srgbClr val="C9D3DB"/>
                      </a:solidFill>
                    </a:lnT>
                    <a:lnB w="9525" cmpd="sng">
                      <a:solidFill>
                        <a:srgbClr val="C9D3DB"/>
                      </a:solidFill>
                    </a:lnB>
                    <a:solidFill>
                      <a:srgbClr val="F5F8FA"/>
                    </a:solidFill>
                  </a:tcPr>
                </a:tc>
              </a:tr>
              <a:tr h="283785"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15354B"/>
                          </a:solidFill>
                          <a:latin typeface="Arial"/>
                        </a:rPr>
                        <a:t>Spread Δ</a:t>
                      </a:r>
                    </a:p>
                  </a:txBody>
                  <a:tcPr marL="50800" marR="50800" marT="19050" marB="19050" anchor="ctr">
                    <a:lnL w="9525" cmpd="sng">
                      <a:solidFill>
                        <a:srgbClr val="C9D3DB"/>
                      </a:solidFill>
                    </a:lnL>
                    <a:lnR w="9525" cmpd="sng">
                      <a:solidFill>
                        <a:srgbClr val="C9D3DB"/>
                      </a:solidFill>
                    </a:lnR>
                    <a:lnT w="9525" cmpd="sng">
                      <a:solidFill>
                        <a:srgbClr val="C9D3DB"/>
                      </a:solidFill>
                    </a:lnT>
                    <a:lnB w="9525" cmpd="sng">
                      <a:solidFill>
                        <a:srgbClr val="C9D3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5354B"/>
                          </a:solidFill>
                          <a:latin typeface="Arial"/>
                        </a:rPr>
                        <a:t>How evenly the routes cover the front out to its extremes</a:t>
                      </a:r>
                    </a:p>
                  </a:txBody>
                  <a:tcPr marL="50800" marR="50800" marT="19050" marB="19050" anchor="ctr">
                    <a:lnL w="9525" cmpd="sng">
                      <a:solidFill>
                        <a:srgbClr val="C9D3DB"/>
                      </a:solidFill>
                    </a:lnL>
                    <a:lnR w="9525" cmpd="sng">
                      <a:solidFill>
                        <a:srgbClr val="C9D3DB"/>
                      </a:solidFill>
                    </a:lnR>
                    <a:lnT w="9525" cmpd="sng">
                      <a:solidFill>
                        <a:srgbClr val="C9D3DB"/>
                      </a:solidFill>
                    </a:lnT>
                    <a:lnB w="9525" cmpd="sng">
                      <a:solidFill>
                        <a:srgbClr val="C9D3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15354B"/>
                          </a:solidFill>
                          <a:latin typeface="Arial"/>
                        </a:rPr>
                        <a:t>Lower</a:t>
                      </a:r>
                    </a:p>
                  </a:txBody>
                  <a:tcPr marL="50800" marR="50800" marT="19050" marB="19050" anchor="ctr">
                    <a:lnL w="9525" cmpd="sng">
                      <a:solidFill>
                        <a:srgbClr val="C9D3DB"/>
                      </a:solidFill>
                    </a:lnL>
                    <a:lnR w="9525" cmpd="sng">
                      <a:solidFill>
                        <a:srgbClr val="C9D3DB"/>
                      </a:solidFill>
                    </a:lnR>
                    <a:lnT w="9525" cmpd="sng">
                      <a:solidFill>
                        <a:srgbClr val="C9D3DB"/>
                      </a:solidFill>
                    </a:lnT>
                    <a:lnB w="9525" cmpd="sng">
                      <a:solidFill>
                        <a:srgbClr val="C9D3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3785"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15354B"/>
                          </a:solidFill>
                          <a:latin typeface="Arial"/>
                        </a:rPr>
                        <a:t>Alignment A</a:t>
                      </a:r>
                    </a:p>
                  </a:txBody>
                  <a:tcPr marL="50800" marR="50800" marT="19050" marB="19050" anchor="ctr">
                    <a:lnL w="9525" cmpd="sng">
                      <a:solidFill>
                        <a:srgbClr val="C9D3DB"/>
                      </a:solidFill>
                    </a:lnL>
                    <a:lnR w="9525" cmpd="sng">
                      <a:solidFill>
                        <a:srgbClr val="C9D3DB"/>
                      </a:solidFill>
                    </a:lnR>
                    <a:lnT w="9525" cmpd="sng">
                      <a:solidFill>
                        <a:srgbClr val="C9D3DB"/>
                      </a:solidFill>
                    </a:lnT>
                    <a:lnB w="9525" cmpd="sng">
                      <a:solidFill>
                        <a:srgbClr val="C9D3DB"/>
                      </a:solidFill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5354B"/>
                          </a:solidFill>
                          <a:latin typeface="Arial"/>
                        </a:rPr>
                        <a:t>Σ w_k (1 − (rank_k − 1)/(K − 1)): rank-based fit of a pick to its weights</a:t>
                      </a:r>
                    </a:p>
                  </a:txBody>
                  <a:tcPr marL="50800" marR="50800" marT="19050" marB="19050" anchor="ctr">
                    <a:lnL w="9525" cmpd="sng">
                      <a:solidFill>
                        <a:srgbClr val="C9D3DB"/>
                      </a:solidFill>
                    </a:lnL>
                    <a:lnR w="9525" cmpd="sng">
                      <a:solidFill>
                        <a:srgbClr val="C9D3DB"/>
                      </a:solidFill>
                    </a:lnR>
                    <a:lnT w="9525" cmpd="sng">
                      <a:solidFill>
                        <a:srgbClr val="C9D3DB"/>
                      </a:solidFill>
                    </a:lnT>
                    <a:lnB w="9525" cmpd="sng">
                      <a:solidFill>
                        <a:srgbClr val="C9D3DB"/>
                      </a:solidFill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15354B"/>
                          </a:solidFill>
                          <a:latin typeface="Arial"/>
                        </a:rPr>
                        <a:t>Higher</a:t>
                      </a:r>
                    </a:p>
                  </a:txBody>
                  <a:tcPr marL="50800" marR="50800" marT="19050" marB="19050" anchor="ctr">
                    <a:lnL w="9525" cmpd="sng">
                      <a:solidFill>
                        <a:srgbClr val="C9D3DB"/>
                      </a:solidFill>
                    </a:lnL>
                    <a:lnR w="9525" cmpd="sng">
                      <a:solidFill>
                        <a:srgbClr val="C9D3DB"/>
                      </a:solidFill>
                    </a:lnR>
                    <a:lnT w="9525" cmpd="sng">
                      <a:solidFill>
                        <a:srgbClr val="C9D3DB"/>
                      </a:solidFill>
                    </a:lnT>
                    <a:lnB w="9525" cmpd="sng">
                      <a:solidFill>
                        <a:srgbClr val="C9D3DB"/>
                      </a:solidFill>
                    </a:lnB>
                    <a:solidFill>
                      <a:srgbClr val="F5F8FA"/>
                    </a:solidFill>
                  </a:tcPr>
                </a:tc>
              </a:tr>
              <a:tr h="283785"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15354B"/>
                          </a:solidFill>
                          <a:latin typeface="Arial"/>
                        </a:rPr>
                        <a:t>Latency / monotonicity</a:t>
                      </a:r>
                    </a:p>
                  </a:txBody>
                  <a:tcPr marL="50800" marR="50800" marT="19050" marB="19050" anchor="ctr">
                    <a:lnL w="9525" cmpd="sng">
                      <a:solidFill>
                        <a:srgbClr val="C9D3DB"/>
                      </a:solidFill>
                    </a:lnL>
                    <a:lnR w="9525" cmpd="sng">
                      <a:solidFill>
                        <a:srgbClr val="C9D3DB"/>
                      </a:solidFill>
                    </a:lnR>
                    <a:lnT w="9525" cmpd="sng">
                      <a:solidFill>
                        <a:srgbClr val="C9D3DB"/>
                      </a:solidFill>
                    </a:lnT>
                    <a:lnB w="9525" cmpd="sng">
                      <a:solidFill>
                        <a:srgbClr val="C9D3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5354B"/>
                          </a:solidFill>
                          <a:latin typeface="Arial"/>
                        </a:rPr>
                        <a:t>Tier 2 time per pick; raising F, U or W never raises risk, distance or energy (225 tags)</a:t>
                      </a:r>
                    </a:p>
                  </a:txBody>
                  <a:tcPr marL="50800" marR="50800" marT="19050" marB="19050" anchor="ctr">
                    <a:lnL w="9525" cmpd="sng">
                      <a:solidFill>
                        <a:srgbClr val="C9D3DB"/>
                      </a:solidFill>
                    </a:lnL>
                    <a:lnR w="9525" cmpd="sng">
                      <a:solidFill>
                        <a:srgbClr val="C9D3DB"/>
                      </a:solidFill>
                    </a:lnR>
                    <a:lnT w="9525" cmpd="sng">
                      <a:solidFill>
                        <a:srgbClr val="C9D3DB"/>
                      </a:solidFill>
                    </a:lnT>
                    <a:lnB w="9525" cmpd="sng">
                      <a:solidFill>
                        <a:srgbClr val="C9D3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15354B"/>
                          </a:solidFill>
                          <a:latin typeface="Arial"/>
                        </a:rPr>
                        <a:t>&lt; 1 s; 0 violations</a:t>
                      </a:r>
                    </a:p>
                  </a:txBody>
                  <a:tcPr marL="50800" marR="50800" marT="19050" marB="19050" anchor="ctr">
                    <a:lnL w="9525" cmpd="sng">
                      <a:solidFill>
                        <a:srgbClr val="C9D3DB"/>
                      </a:solidFill>
                    </a:lnL>
                    <a:lnR w="9525" cmpd="sng">
                      <a:solidFill>
                        <a:srgbClr val="C9D3DB"/>
                      </a:solidFill>
                    </a:lnR>
                    <a:lnT w="9525" cmpd="sng">
                      <a:solidFill>
                        <a:srgbClr val="C9D3DB"/>
                      </a:solidFill>
                    </a:lnT>
                    <a:lnB w="9525" cmpd="sng">
                      <a:solidFill>
                        <a:srgbClr val="C9D3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3785"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15354B"/>
                          </a:solidFill>
                          <a:latin typeface="Arial"/>
                        </a:rPr>
                        <a:t>Cross-track RMS / landing offset</a:t>
                      </a:r>
                    </a:p>
                  </a:txBody>
                  <a:tcPr marL="50800" marR="50800" marT="19050" marB="19050" anchor="ctr">
                    <a:lnL w="9525" cmpd="sng">
                      <a:solidFill>
                        <a:srgbClr val="C9D3DB"/>
                      </a:solidFill>
                    </a:lnL>
                    <a:lnR w="9525" cmpd="sng">
                      <a:solidFill>
                        <a:srgbClr val="C9D3DB"/>
                      </a:solidFill>
                    </a:lnR>
                    <a:lnT w="9525" cmpd="sng">
                      <a:solidFill>
                        <a:srgbClr val="C9D3DB"/>
                      </a:solidFill>
                    </a:lnT>
                    <a:lnB w="9525" cmpd="sng">
                      <a:solidFill>
                        <a:srgbClr val="C9D3DB"/>
                      </a:solidFill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5354B"/>
                          </a:solidFill>
                          <a:latin typeface="Arial"/>
                        </a:rPr>
                        <a:t>Flown SITL track vs planned route; touchdown distance from the pad</a:t>
                      </a:r>
                    </a:p>
                  </a:txBody>
                  <a:tcPr marL="50800" marR="50800" marT="19050" marB="19050" anchor="ctr">
                    <a:lnL w="9525" cmpd="sng">
                      <a:solidFill>
                        <a:srgbClr val="C9D3DB"/>
                      </a:solidFill>
                    </a:lnL>
                    <a:lnR w="9525" cmpd="sng">
                      <a:solidFill>
                        <a:srgbClr val="C9D3DB"/>
                      </a:solidFill>
                    </a:lnR>
                    <a:lnT w="9525" cmpd="sng">
                      <a:solidFill>
                        <a:srgbClr val="C9D3DB"/>
                      </a:solidFill>
                    </a:lnT>
                    <a:lnB w="9525" cmpd="sng">
                      <a:solidFill>
                        <a:srgbClr val="C9D3DB"/>
                      </a:solidFill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15354B"/>
                          </a:solidFill>
                          <a:latin typeface="Arial"/>
                        </a:rPr>
                        <a:t>Lower (m)</a:t>
                      </a:r>
                    </a:p>
                  </a:txBody>
                  <a:tcPr marL="50800" marR="50800" marT="19050" marB="19050" anchor="ctr">
                    <a:lnL w="9525" cmpd="sng">
                      <a:solidFill>
                        <a:srgbClr val="C9D3DB"/>
                      </a:solidFill>
                    </a:lnL>
                    <a:lnR w="9525" cmpd="sng">
                      <a:solidFill>
                        <a:srgbClr val="C9D3DB"/>
                      </a:solidFill>
                    </a:lnR>
                    <a:lnT w="9525" cmpd="sng">
                      <a:solidFill>
                        <a:srgbClr val="C9D3DB"/>
                      </a:solidFill>
                    </a:lnT>
                    <a:lnB w="9525" cmpd="sng">
                      <a:solidFill>
                        <a:srgbClr val="C9D3DB"/>
                      </a:solidFill>
                    </a:lnB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43" name="Methodology Panel"/>
          <p:cNvSpPr/>
          <p:nvPr/>
        </p:nvSpPr>
        <p:spPr>
          <a:xfrm>
            <a:off x="9213568" y="4975705"/>
            <a:ext cx="10518981" cy="8740592"/>
          </a:xfrm>
          <a:prstGeom prst="rect">
            <a:avLst/>
          </a:prstGeom>
          <a:solidFill>
            <a:srgbClr val="F5F8FA"/>
          </a:solidFill>
          <a:ln w="12700">
            <a:solidFill>
              <a:srgbClr val="D5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4" name="Methodology Diagram" descr="9cbba388-methodolog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7082" y="5070300"/>
            <a:ext cx="10291953" cy="5788500"/>
          </a:xfrm>
          <a:prstGeom prst="rect">
            <a:avLst/>
          </a:prstGeom>
        </p:spPr>
      </p:pic>
      <p:sp>
        <p:nvSpPr>
          <p:cNvPr id="45" name="Methodology Explanation"/>
          <p:cNvSpPr txBox="1"/>
          <p:nvPr/>
        </p:nvSpPr>
        <p:spPr>
          <a:xfrm>
            <a:off x="9383839" y="10954119"/>
            <a:ext cx="10178438" cy="27432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50"/>
              </a:lnSpc>
            </a:pPr>
            <a:r>
              <a:rPr sz="1750" b="1">
                <a:solidFill>
                  <a:srgbClr val="087F8C"/>
                </a:solidFill>
                <a:latin typeface="Arial"/>
              </a:rPr>
              <a:t>Tier 1 (once per region and weather window): </a:t>
            </a:r>
            <a:r>
              <a:rPr sz="1750" b="0">
                <a:solidFill>
                  <a:srgbClr val="15354B"/>
                </a:solidFill>
                <a:latin typeface="Arial"/>
              </a:rPr>
              <a:t>every edge gets a cost vector [distance, wind-aware energy, 11-component risk]; NAMOA* finds all non-dominated routes and stores the front with its weather snapshot and expiry.</a:t>
            </a:r>
          </a:p>
          <a:p>
            <a:pPr algn="l">
              <a:lnSpc>
                <a:spcPts val="2150"/>
              </a:lnSpc>
              <a:spcBef>
                <a:spcPts val="300"/>
              </a:spcBef>
            </a:pPr>
            <a:r>
              <a:rPr sz="1750" b="1">
                <a:solidFill>
                  <a:srgbClr val="087F8C"/>
                </a:solidFill>
                <a:latin typeface="Arial"/>
              </a:rPr>
              <a:t>Tier 2 (per mission, &lt;1 s): </a:t>
            </a:r>
            <a:r>
              <a:rPr sz="1750" b="0">
                <a:solidFill>
                  <a:srgbClr val="15354B"/>
                </a:solidFill>
                <a:latin typeface="Arial"/>
              </a:rPr>
              <a:t>w_risk = 2F/S, w_dist = 3U/S, w_energy = 2W/S, S = 2F + 3U + 2W (P ≥ 4 boosts the largest weight by 10%); score(p) = Σ w_k (1 − normalised objective_k); route = argmax over the battery-feasible front, else HOLD.</a:t>
            </a:r>
          </a:p>
          <a:p>
            <a:pPr algn="l">
              <a:lnSpc>
                <a:spcPts val="2150"/>
              </a:lnSpc>
              <a:spcBef>
                <a:spcPts val="300"/>
              </a:spcBef>
            </a:pPr>
            <a:r>
              <a:rPr sz="1750" b="1">
                <a:solidFill>
                  <a:srgbClr val="087F8C"/>
                </a:solidFill>
                <a:latin typeface="Arial"/>
              </a:rPr>
              <a:t>Output &amp; evaluation: </a:t>
            </a:r>
            <a:r>
              <a:rPr sz="1750" b="0">
                <a:solidFill>
                  <a:srgbClr val="15354B"/>
                </a:solidFill>
                <a:latin typeface="Arial"/>
              </a:rPr>
              <a:t>the route is exported as a QGC WPL 110 / .plan mission, uploaded over MAVLink and flown in ArduPilot SITL + Gazebo; Module 5 scores every run with the metrics on the left.</a:t>
            </a:r>
          </a:p>
        </p:txBody>
      </p:sp>
      <p:sp>
        <p:nvSpPr>
          <p:cNvPr id="46" name="Modules and Dataset Text"/>
          <p:cNvSpPr txBox="1"/>
          <p:nvPr/>
        </p:nvSpPr>
        <p:spPr>
          <a:xfrm>
            <a:off x="9289244" y="14586573"/>
            <a:ext cx="10443305" cy="6243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  <a:spcBef>
                <a:spcPts val="400"/>
              </a:spcBef>
            </a:pPr>
            <a:r>
              <a:rPr sz="2000" b="1">
                <a:solidFill>
                  <a:srgbClr val="087F8C"/>
                </a:solidFill>
                <a:latin typeface="Arial"/>
              </a:rPr>
              <a:t>Modules</a:t>
            </a:r>
          </a:p>
          <a:p>
            <a:pPr algn="l">
              <a:lnSpc>
                <a:spcPts val="2600"/>
              </a:lnSpc>
            </a:pPr>
            <a:r>
              <a:rPr sz="1950" b="1">
                <a:solidFill>
                  <a:srgbClr val="15354B"/>
                </a:solidFill>
                <a:latin typeface="Arial"/>
              </a:rPr>
              <a:t>M1 Airspace Graph Builder: </a:t>
            </a:r>
            <a:r>
              <a:rPr sz="1950" b="0">
                <a:solidFill>
                  <a:srgbClr val="15354B"/>
                </a:solidFill>
                <a:latin typeface="Arial"/>
              </a:rPr>
              <a:t>3-D lattice; wind-aware energy + 11-component risk</a:t>
            </a:r>
          </a:p>
          <a:p>
            <a:pPr algn="l">
              <a:lnSpc>
                <a:spcPts val="2600"/>
              </a:lnSpc>
            </a:pPr>
            <a:r>
              <a:rPr sz="1950" b="1">
                <a:solidFill>
                  <a:srgbClr val="15354B"/>
                </a:solidFill>
                <a:latin typeface="Arial"/>
              </a:rPr>
              <a:t>M2 Tier 1 Pareto Engine: </a:t>
            </a:r>
            <a:r>
              <a:rPr sz="1950" b="0">
                <a:solidFill>
                  <a:srgbClr val="15354B"/>
                </a:solidFill>
                <a:latin typeface="Arial"/>
              </a:rPr>
              <a:t>NAMOA* + front store with drift-based refresh</a:t>
            </a:r>
          </a:p>
          <a:p>
            <a:pPr algn="l">
              <a:lnSpc>
                <a:spcPts val="2600"/>
              </a:lnSpc>
            </a:pPr>
            <a:r>
              <a:rPr sz="1950" b="1">
                <a:solidFill>
                  <a:srgbClr val="15354B"/>
                </a:solidFill>
                <a:latin typeface="Arial"/>
              </a:rPr>
              <a:t>M3 Baselines: </a:t>
            </a:r>
            <a:r>
              <a:rPr sz="1950" b="0">
                <a:solidFill>
                  <a:srgbClr val="15354B"/>
                </a:solidFill>
                <a:latin typeface="Arial"/>
              </a:rPr>
              <a:t>A* (distance / energy / risk), weighted-sum A*, MOPSO</a:t>
            </a:r>
          </a:p>
          <a:p>
            <a:pPr algn="l">
              <a:lnSpc>
                <a:spcPts val="2600"/>
              </a:lnSpc>
            </a:pPr>
            <a:r>
              <a:rPr sz="1950" b="1">
                <a:solidFill>
                  <a:srgbClr val="15354B"/>
                </a:solidFill>
                <a:latin typeface="Arial"/>
              </a:rPr>
              <a:t>M4 Tier 2 Payload Interpreter: </a:t>
            </a:r>
            <a:r>
              <a:rPr sz="1950" b="0">
                <a:solidFill>
                  <a:srgbClr val="15354B"/>
                </a:solidFill>
                <a:latin typeface="Arial"/>
              </a:rPr>
              <a:t>tags → weights → argmax; battery &amp; weather HOLD</a:t>
            </a:r>
          </a:p>
          <a:p>
            <a:pPr algn="l">
              <a:lnSpc>
                <a:spcPts val="2600"/>
              </a:lnSpc>
            </a:pPr>
            <a:r>
              <a:rPr sz="1950" b="1">
                <a:solidFill>
                  <a:srgbClr val="15354B"/>
                </a:solidFill>
                <a:latin typeface="Arial"/>
              </a:rPr>
              <a:t>M5 Evaluation: </a:t>
            </a:r>
            <a:r>
              <a:rPr sz="1950" b="0">
                <a:solidFill>
                  <a:srgbClr val="15354B"/>
                </a:solidFill>
                <a:latin typeface="Arial"/>
              </a:rPr>
              <a:t>HV, IGD, spread, alignment score, 225-tag sweep</a:t>
            </a:r>
          </a:p>
          <a:p>
            <a:pPr algn="l">
              <a:lnSpc>
                <a:spcPts val="2600"/>
              </a:lnSpc>
            </a:pPr>
            <a:r>
              <a:rPr sz="1950" b="1">
                <a:solidFill>
                  <a:srgbClr val="15354B"/>
                </a:solidFill>
                <a:latin typeface="Arial"/>
              </a:rPr>
              <a:t>M6 Mission Export &amp; Dashboard: </a:t>
            </a:r>
            <a:r>
              <a:rPr sz="1950" b="0">
                <a:solidFill>
                  <a:srgbClr val="15354B"/>
                </a:solidFill>
                <a:latin typeface="Arial"/>
              </a:rPr>
              <a:t>QGC WPL 110 / .plan files, Tkinter UI</a:t>
            </a:r>
          </a:p>
          <a:p>
            <a:pPr algn="l">
              <a:lnSpc>
                <a:spcPts val="2600"/>
              </a:lnSpc>
            </a:pPr>
            <a:r>
              <a:rPr sz="1950" b="1">
                <a:solidFill>
                  <a:srgbClr val="15354B"/>
                </a:solidFill>
                <a:latin typeface="Arial"/>
              </a:rPr>
              <a:t>M7 Simulation: </a:t>
            </a:r>
            <a:r>
              <a:rPr sz="1950" b="0">
                <a:solidFill>
                  <a:srgbClr val="15354B"/>
                </a:solidFill>
                <a:latin typeface="Arial"/>
              </a:rPr>
              <a:t>Gazebo Harmonic + ArduPilot SITL, flown-track metrics</a:t>
            </a:r>
          </a:p>
          <a:p>
            <a:pPr algn="l">
              <a:lnSpc>
                <a:spcPts val="2600"/>
              </a:lnSpc>
              <a:spcBef>
                <a:spcPts val="1000"/>
              </a:spcBef>
            </a:pPr>
            <a:r>
              <a:rPr sz="2000" b="1">
                <a:solidFill>
                  <a:srgbClr val="087F8C"/>
                </a:solidFill>
                <a:latin typeface="Arial"/>
              </a:rPr>
              <a:t>Dataset Description</a:t>
            </a:r>
          </a:p>
          <a:p>
            <a:pPr algn="l">
              <a:lnSpc>
                <a:spcPts val="2600"/>
              </a:lnSpc>
            </a:pPr>
            <a:r>
              <a:rPr sz="1950" b="1">
                <a:solidFill>
                  <a:srgbClr val="15354B"/>
                </a:solidFill>
                <a:latin typeface="Arial"/>
              </a:rPr>
              <a:t>Synthetic graphs (seeded): </a:t>
            </a:r>
            <a:r>
              <a:rPr sz="1950" b="0">
                <a:solidFill>
                  <a:srgbClr val="15354B"/>
                </a:solidFill>
                <a:latin typeface="Arial"/>
              </a:rPr>
              <a:t>S1 50, S2 ~200, S3 500 nodes; wind 12–28 km/h</a:t>
            </a:r>
          </a:p>
          <a:p>
            <a:pPr algn="l">
              <a:lnSpc>
                <a:spcPts val="2600"/>
              </a:lnSpc>
            </a:pPr>
            <a:r>
              <a:rPr sz="1950" b="1">
                <a:solidFill>
                  <a:srgbClr val="15354B"/>
                </a:solidFill>
                <a:latin typeface="Arial"/>
              </a:rPr>
              <a:t>Real-region lattice: </a:t>
            </a:r>
            <a:r>
              <a:rPr sz="1950" b="0">
                <a:solidFill>
                  <a:srgbClr val="15354B"/>
                </a:solidFill>
                <a:latin typeface="Arial"/>
              </a:rPr>
              <a:t>6 km box, 200 m spacing → 893 nodes, 6,752 directed edges</a:t>
            </a:r>
          </a:p>
          <a:p>
            <a:pPr algn="l">
              <a:lnSpc>
                <a:spcPts val="2600"/>
              </a:lnSpc>
            </a:pPr>
            <a:r>
              <a:rPr sz="1950" b="1">
                <a:solidFill>
                  <a:srgbClr val="15354B"/>
                </a:solidFill>
                <a:latin typeface="Arial"/>
              </a:rPr>
              <a:t>Sources: </a:t>
            </a:r>
            <a:r>
              <a:rPr sz="1950" b="0">
                <a:solidFill>
                  <a:srgbClr val="15354B"/>
                </a:solidFill>
                <a:latin typeface="Arial"/>
              </a:rPr>
              <a:t>Open-Meteo weather, Copernicus DEM, OpenStreetMap (Overpass)</a:t>
            </a:r>
          </a:p>
          <a:p>
            <a:pPr algn="l">
              <a:lnSpc>
                <a:spcPts val="2600"/>
              </a:lnSpc>
            </a:pPr>
            <a:r>
              <a:rPr sz="1950" b="1">
                <a:solidFill>
                  <a:srgbClr val="15354B"/>
                </a:solidFill>
                <a:latin typeface="Arial"/>
              </a:rPr>
              <a:t>Payload tags: </a:t>
            </a:r>
            <a:r>
              <a:rPr sz="1950" b="0">
                <a:solidFill>
                  <a:srgbClr val="15354B"/>
                </a:solidFill>
                <a:latin typeface="Arial"/>
              </a:rPr>
              <a:t>5 × 3 × 3 × 5 = 225 combinations, 4 reference presets</a:t>
            </a:r>
          </a:p>
          <a:p>
            <a:pPr algn="l">
              <a:lnSpc>
                <a:spcPts val="2600"/>
              </a:lnSpc>
            </a:pPr>
            <a:r>
              <a:rPr sz="1950" b="1">
                <a:solidFill>
                  <a:srgbClr val="15354B"/>
                </a:solidFill>
                <a:latin typeface="Arial"/>
              </a:rPr>
              <a:t>Simulation bundle: </a:t>
            </a:r>
            <a:r>
              <a:rPr sz="1950" b="0">
                <a:solidFill>
                  <a:srgbClr val="15354B"/>
                </a:solidFill>
                <a:latin typeface="Arial"/>
              </a:rPr>
              <a:t>1.5 km frozen region (terrain, buildings, roads, pads)</a:t>
            </a:r>
          </a:p>
        </p:txBody>
      </p:sp>
      <p:sp>
        <p:nvSpPr>
          <p:cNvPr id="47" name="Results Panel"/>
          <p:cNvSpPr/>
          <p:nvPr/>
        </p:nvSpPr>
        <p:spPr>
          <a:xfrm>
            <a:off x="20016335" y="4975705"/>
            <a:ext cx="9648705" cy="12815897"/>
          </a:xfrm>
          <a:prstGeom prst="rect">
            <a:avLst/>
          </a:prstGeom>
          <a:solidFill>
            <a:srgbClr val="F5F8FA"/>
          </a:solidFill>
          <a:ln w="12700">
            <a:solidFill>
              <a:srgbClr val="D5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ier 1 Table Title"/>
          <p:cNvSpPr txBox="1"/>
          <p:nvPr/>
        </p:nvSpPr>
        <p:spPr>
          <a:xfrm>
            <a:off x="20167687" y="5070300"/>
            <a:ext cx="9421677" cy="3405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87F8C"/>
                </a:solidFill>
                <a:latin typeface="Arial"/>
              </a:rPr>
              <a:t>Tier 1 vs baselines (first pass; HV higher, IGD lower is better)</a:t>
            </a:r>
          </a:p>
        </p:txBody>
      </p:sp>
      <p:graphicFrame>
        <p:nvGraphicFramePr>
          <p:cNvPr id="49" name="Tier 1 Results Table"/>
          <p:cNvGraphicFramePr>
            <a:graphicFrameLocks noGrp="1"/>
          </p:cNvGraphicFramePr>
          <p:nvPr/>
        </p:nvGraphicFramePr>
        <p:xfrm>
          <a:off x="20129849" y="5429761"/>
          <a:ext cx="9421676" cy="1920275"/>
        </p:xfrm>
        <a:graphic>
          <a:graphicData uri="http://schemas.openxmlformats.org/drawingml/2006/table">
            <a:tbl>
              <a:tblPr firstRow="1" bandRow="0"/>
              <a:tblGrid>
                <a:gridCol w="1362170"/>
                <a:gridCol w="2421636"/>
                <a:gridCol w="1248656"/>
                <a:gridCol w="1248656"/>
                <a:gridCol w="1589198"/>
                <a:gridCol w="1551360"/>
              </a:tblGrid>
              <a:tr h="274325"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</a:rPr>
                        <a:t>Scenario</a:t>
                      </a:r>
                    </a:p>
                  </a:txBody>
                  <a:tcPr marL="50800" marR="50800" marT="19050" marB="19050" anchor="ctr">
                    <a:lnL w="9525" cmpd="sng">
                      <a:solidFill>
                        <a:srgbClr val="15354B"/>
                      </a:solidFill>
                    </a:lnL>
                    <a:lnR w="9525" cmpd="sng">
                      <a:solidFill>
                        <a:srgbClr val="15354B"/>
                      </a:solidFill>
                    </a:lnR>
                    <a:lnT w="9525" cmpd="sng">
                      <a:solidFill>
                        <a:srgbClr val="15354B"/>
                      </a:solidFill>
                    </a:lnT>
                    <a:lnB w="9525" cmpd="sng">
                      <a:solidFill>
                        <a:srgbClr val="15354B"/>
                      </a:solidFill>
                    </a:lnB>
                    <a:solidFill>
                      <a:srgbClr val="1535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</a:rPr>
                        <a:t>Method</a:t>
                      </a:r>
                    </a:p>
                  </a:txBody>
                  <a:tcPr marL="50800" marR="50800" marT="19050" marB="19050" anchor="ctr">
                    <a:lnL w="9525" cmpd="sng">
                      <a:solidFill>
                        <a:srgbClr val="15354B"/>
                      </a:solidFill>
                    </a:lnL>
                    <a:lnR w="9525" cmpd="sng">
                      <a:solidFill>
                        <a:srgbClr val="15354B"/>
                      </a:solidFill>
                    </a:lnR>
                    <a:lnT w="9525" cmpd="sng">
                      <a:solidFill>
                        <a:srgbClr val="15354B"/>
                      </a:solidFill>
                    </a:lnT>
                    <a:lnB w="9525" cmpd="sng">
                      <a:solidFill>
                        <a:srgbClr val="15354B"/>
                      </a:solidFill>
                    </a:lnB>
                    <a:solidFill>
                      <a:srgbClr val="1535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</a:rPr>
                        <a:t>Routes</a:t>
                      </a:r>
                    </a:p>
                  </a:txBody>
                  <a:tcPr marL="50800" marR="50800" marT="19050" marB="19050" anchor="ctr">
                    <a:lnL w="9525" cmpd="sng">
                      <a:solidFill>
                        <a:srgbClr val="15354B"/>
                      </a:solidFill>
                    </a:lnL>
                    <a:lnR w="9525" cmpd="sng">
                      <a:solidFill>
                        <a:srgbClr val="15354B"/>
                      </a:solidFill>
                    </a:lnR>
                    <a:lnT w="9525" cmpd="sng">
                      <a:solidFill>
                        <a:srgbClr val="15354B"/>
                      </a:solidFill>
                    </a:lnT>
                    <a:lnB w="9525" cmpd="sng">
                      <a:solidFill>
                        <a:srgbClr val="15354B"/>
                      </a:solidFill>
                    </a:lnB>
                    <a:solidFill>
                      <a:srgbClr val="1535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</a:rPr>
                        <a:t>Time (s)</a:t>
                      </a:r>
                    </a:p>
                  </a:txBody>
                  <a:tcPr marL="50800" marR="50800" marT="19050" marB="19050" anchor="ctr">
                    <a:lnL w="9525" cmpd="sng">
                      <a:solidFill>
                        <a:srgbClr val="15354B"/>
                      </a:solidFill>
                    </a:lnL>
                    <a:lnR w="9525" cmpd="sng">
                      <a:solidFill>
                        <a:srgbClr val="15354B"/>
                      </a:solidFill>
                    </a:lnR>
                    <a:lnT w="9525" cmpd="sng">
                      <a:solidFill>
                        <a:srgbClr val="15354B"/>
                      </a:solidFill>
                    </a:lnT>
                    <a:lnB w="9525" cmpd="sng">
                      <a:solidFill>
                        <a:srgbClr val="15354B"/>
                      </a:solidFill>
                    </a:lnB>
                    <a:solidFill>
                      <a:srgbClr val="1535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</a:rPr>
                        <a:t>HV</a:t>
                      </a:r>
                    </a:p>
                  </a:txBody>
                  <a:tcPr marL="50800" marR="50800" marT="19050" marB="19050" anchor="ctr">
                    <a:lnL w="9525" cmpd="sng">
                      <a:solidFill>
                        <a:srgbClr val="15354B"/>
                      </a:solidFill>
                    </a:lnL>
                    <a:lnR w="9525" cmpd="sng">
                      <a:solidFill>
                        <a:srgbClr val="15354B"/>
                      </a:solidFill>
                    </a:lnR>
                    <a:lnT w="9525" cmpd="sng">
                      <a:solidFill>
                        <a:srgbClr val="15354B"/>
                      </a:solidFill>
                    </a:lnT>
                    <a:lnB w="9525" cmpd="sng">
                      <a:solidFill>
                        <a:srgbClr val="15354B"/>
                      </a:solidFill>
                    </a:lnB>
                    <a:solidFill>
                      <a:srgbClr val="1535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</a:rPr>
                        <a:t>IGD</a:t>
                      </a:r>
                    </a:p>
                  </a:txBody>
                  <a:tcPr marL="50800" marR="50800" marT="19050" marB="19050" anchor="ctr">
                    <a:lnL w="9525" cmpd="sng">
                      <a:solidFill>
                        <a:srgbClr val="15354B"/>
                      </a:solidFill>
                    </a:lnL>
                    <a:lnR w="9525" cmpd="sng">
                      <a:solidFill>
                        <a:srgbClr val="15354B"/>
                      </a:solidFill>
                    </a:lnR>
                    <a:lnT w="9525" cmpd="sng">
                      <a:solidFill>
                        <a:srgbClr val="15354B"/>
                      </a:solidFill>
                    </a:lnT>
                    <a:lnB w="9525" cmpd="sng">
                      <a:solidFill>
                        <a:srgbClr val="15354B"/>
                      </a:solidFill>
                    </a:lnB>
                    <a:solidFill>
                      <a:srgbClr val="15354B"/>
                    </a:solidFill>
                  </a:tcPr>
                </a:tc>
              </a:tr>
              <a:tr h="274325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5354B"/>
                          </a:solidFill>
                          <a:latin typeface="Arial"/>
                        </a:rPr>
                        <a:t>S2 (200)</a:t>
                      </a:r>
                    </a:p>
                  </a:txBody>
                  <a:tcPr marL="50800" marR="50800" marT="19050" marB="19050" anchor="ctr">
                    <a:lnL w="9525" cmpd="sng">
                      <a:solidFill>
                        <a:srgbClr val="C9D3DB"/>
                      </a:solidFill>
                    </a:lnL>
                    <a:lnR w="9525" cmpd="sng">
                      <a:solidFill>
                        <a:srgbClr val="C9D3DB"/>
                      </a:solidFill>
                    </a:lnR>
                    <a:lnT w="9525" cmpd="sng">
                      <a:solidFill>
                        <a:srgbClr val="C9D3DB"/>
                      </a:solidFill>
                    </a:lnT>
                    <a:lnB w="9525" cmpd="sng">
                      <a:solidFill>
                        <a:srgbClr val="C9D3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15354B"/>
                          </a:solidFill>
                          <a:latin typeface="Arial"/>
                        </a:rPr>
                        <a:t>NAMOA* (Tier 1)</a:t>
                      </a:r>
                    </a:p>
                  </a:txBody>
                  <a:tcPr marL="50800" marR="50800" marT="19050" marB="19050" anchor="ctr">
                    <a:lnL w="9525" cmpd="sng">
                      <a:solidFill>
                        <a:srgbClr val="C9D3DB"/>
                      </a:solidFill>
                    </a:lnL>
                    <a:lnR w="9525" cmpd="sng">
                      <a:solidFill>
                        <a:srgbClr val="C9D3DB"/>
                      </a:solidFill>
                    </a:lnR>
                    <a:lnT w="9525" cmpd="sng">
                      <a:solidFill>
                        <a:srgbClr val="C9D3DB"/>
                      </a:solidFill>
                    </a:lnT>
                    <a:lnB w="9525" cmpd="sng">
                      <a:solidFill>
                        <a:srgbClr val="C9D3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15354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50800" marR="50800" marT="19050" marB="19050" anchor="ctr">
                    <a:lnL w="9525" cmpd="sng">
                      <a:solidFill>
                        <a:srgbClr val="C9D3DB"/>
                      </a:solidFill>
                    </a:lnL>
                    <a:lnR w="9525" cmpd="sng">
                      <a:solidFill>
                        <a:srgbClr val="C9D3DB"/>
                      </a:solidFill>
                    </a:lnR>
                    <a:lnT w="9525" cmpd="sng">
                      <a:solidFill>
                        <a:srgbClr val="C9D3DB"/>
                      </a:solidFill>
                    </a:lnT>
                    <a:lnB w="9525" cmpd="sng">
                      <a:solidFill>
                        <a:srgbClr val="C9D3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15354B"/>
                          </a:solidFill>
                          <a:latin typeface="Arial"/>
                        </a:rPr>
                        <a:t>0.162</a:t>
                      </a:r>
                    </a:p>
                  </a:txBody>
                  <a:tcPr marL="50800" marR="50800" marT="19050" marB="19050" anchor="ctr">
                    <a:lnL w="9525" cmpd="sng">
                      <a:solidFill>
                        <a:srgbClr val="C9D3DB"/>
                      </a:solidFill>
                    </a:lnL>
                    <a:lnR w="9525" cmpd="sng">
                      <a:solidFill>
                        <a:srgbClr val="C9D3DB"/>
                      </a:solidFill>
                    </a:lnR>
                    <a:lnT w="9525" cmpd="sng">
                      <a:solidFill>
                        <a:srgbClr val="C9D3DB"/>
                      </a:solidFill>
                    </a:lnT>
                    <a:lnB w="9525" cmpd="sng">
                      <a:solidFill>
                        <a:srgbClr val="C9D3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15354B"/>
                          </a:solidFill>
                          <a:latin typeface="Arial"/>
                        </a:rPr>
                        <a:t>1.2065</a:t>
                      </a:r>
                    </a:p>
                  </a:txBody>
                  <a:tcPr marL="50800" marR="50800" marT="19050" marB="19050" anchor="ctr">
                    <a:lnL w="9525" cmpd="sng">
                      <a:solidFill>
                        <a:srgbClr val="C9D3DB"/>
                      </a:solidFill>
                    </a:lnL>
                    <a:lnR w="9525" cmpd="sng">
                      <a:solidFill>
                        <a:srgbClr val="C9D3DB"/>
                      </a:solidFill>
                    </a:lnR>
                    <a:lnT w="9525" cmpd="sng">
                      <a:solidFill>
                        <a:srgbClr val="C9D3DB"/>
                      </a:solidFill>
                    </a:lnT>
                    <a:lnB w="9525" cmpd="sng">
                      <a:solidFill>
                        <a:srgbClr val="C9D3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15354B"/>
                          </a:solidFill>
                          <a:latin typeface="Arial"/>
                        </a:rPr>
                        <a:t>0.000</a:t>
                      </a:r>
                    </a:p>
                  </a:txBody>
                  <a:tcPr marL="50800" marR="50800" marT="19050" marB="19050" anchor="ctr">
                    <a:lnL w="9525" cmpd="sng">
                      <a:solidFill>
                        <a:srgbClr val="C9D3DB"/>
                      </a:solidFill>
                    </a:lnL>
                    <a:lnR w="9525" cmpd="sng">
                      <a:solidFill>
                        <a:srgbClr val="C9D3DB"/>
                      </a:solidFill>
                    </a:lnR>
                    <a:lnT w="9525" cmpd="sng">
                      <a:solidFill>
                        <a:srgbClr val="C9D3DB"/>
                      </a:solidFill>
                    </a:lnT>
                    <a:lnB w="9525" cmpd="sng">
                      <a:solidFill>
                        <a:srgbClr val="C9D3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5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5354B"/>
                          </a:solidFill>
                          <a:latin typeface="Arial"/>
                        </a:rPr>
                        <a:t>S2 (200)</a:t>
                      </a:r>
                    </a:p>
                  </a:txBody>
                  <a:tcPr marL="50800" marR="50800" marT="19050" marB="19050" anchor="ctr">
                    <a:lnL w="9525" cmpd="sng">
                      <a:solidFill>
                        <a:srgbClr val="C9D3DB"/>
                      </a:solidFill>
                    </a:lnL>
                    <a:lnR w="9525" cmpd="sng">
                      <a:solidFill>
                        <a:srgbClr val="C9D3DB"/>
                      </a:solidFill>
                    </a:lnR>
                    <a:lnT w="9525" cmpd="sng">
                      <a:solidFill>
                        <a:srgbClr val="C9D3DB"/>
                      </a:solidFill>
                    </a:lnT>
                    <a:lnB w="9525" cmpd="sng">
                      <a:solidFill>
                        <a:srgbClr val="C9D3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5354B"/>
                          </a:solidFill>
                          <a:latin typeface="Arial"/>
                        </a:rPr>
                        <a:t>MOPSO</a:t>
                      </a:r>
                    </a:p>
                  </a:txBody>
                  <a:tcPr marL="50800" marR="50800" marT="19050" marB="19050" anchor="ctr">
                    <a:lnL w="9525" cmpd="sng">
                      <a:solidFill>
                        <a:srgbClr val="C9D3DB"/>
                      </a:solidFill>
                    </a:lnL>
                    <a:lnR w="9525" cmpd="sng">
                      <a:solidFill>
                        <a:srgbClr val="C9D3DB"/>
                      </a:solidFill>
                    </a:lnR>
                    <a:lnT w="9525" cmpd="sng">
                      <a:solidFill>
                        <a:srgbClr val="C9D3DB"/>
                      </a:solidFill>
                    </a:lnT>
                    <a:lnB w="9525" cmpd="sng">
                      <a:solidFill>
                        <a:srgbClr val="C9D3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15354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50800" marR="50800" marT="19050" marB="19050" anchor="ctr">
                    <a:lnL w="9525" cmpd="sng">
                      <a:solidFill>
                        <a:srgbClr val="C9D3DB"/>
                      </a:solidFill>
                    </a:lnL>
                    <a:lnR w="9525" cmpd="sng">
                      <a:solidFill>
                        <a:srgbClr val="C9D3DB"/>
                      </a:solidFill>
                    </a:lnR>
                    <a:lnT w="9525" cmpd="sng">
                      <a:solidFill>
                        <a:srgbClr val="C9D3DB"/>
                      </a:solidFill>
                    </a:lnT>
                    <a:lnB w="9525" cmpd="sng">
                      <a:solidFill>
                        <a:srgbClr val="C9D3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15354B"/>
                          </a:solidFill>
                          <a:latin typeface="Arial"/>
                        </a:rPr>
                        <a:t>1.505</a:t>
                      </a:r>
                    </a:p>
                  </a:txBody>
                  <a:tcPr marL="50800" marR="50800" marT="19050" marB="19050" anchor="ctr">
                    <a:lnL w="9525" cmpd="sng">
                      <a:solidFill>
                        <a:srgbClr val="C9D3DB"/>
                      </a:solidFill>
                    </a:lnL>
                    <a:lnR w="9525" cmpd="sng">
                      <a:solidFill>
                        <a:srgbClr val="C9D3DB"/>
                      </a:solidFill>
                    </a:lnR>
                    <a:lnT w="9525" cmpd="sng">
                      <a:solidFill>
                        <a:srgbClr val="C9D3DB"/>
                      </a:solidFill>
                    </a:lnT>
                    <a:lnB w="9525" cmpd="sng">
                      <a:solidFill>
                        <a:srgbClr val="C9D3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15354B"/>
                          </a:solidFill>
                          <a:latin typeface="Arial"/>
                        </a:rPr>
                        <a:t>1.2061</a:t>
                      </a:r>
                    </a:p>
                  </a:txBody>
                  <a:tcPr marL="50800" marR="50800" marT="19050" marB="19050" anchor="ctr">
                    <a:lnL w="9525" cmpd="sng">
                      <a:solidFill>
                        <a:srgbClr val="C9D3DB"/>
                      </a:solidFill>
                    </a:lnL>
                    <a:lnR w="9525" cmpd="sng">
                      <a:solidFill>
                        <a:srgbClr val="C9D3DB"/>
                      </a:solidFill>
                    </a:lnR>
                    <a:lnT w="9525" cmpd="sng">
                      <a:solidFill>
                        <a:srgbClr val="C9D3DB"/>
                      </a:solidFill>
                    </a:lnT>
                    <a:lnB w="9525" cmpd="sng">
                      <a:solidFill>
                        <a:srgbClr val="C9D3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15354B"/>
                          </a:solidFill>
                          <a:latin typeface="Arial"/>
                        </a:rPr>
                        <a:t>0.017</a:t>
                      </a:r>
                    </a:p>
                  </a:txBody>
                  <a:tcPr marL="50800" marR="50800" marT="19050" marB="19050" anchor="ctr">
                    <a:lnL w="9525" cmpd="sng">
                      <a:solidFill>
                        <a:srgbClr val="C9D3DB"/>
                      </a:solidFill>
                    </a:lnL>
                    <a:lnR w="9525" cmpd="sng">
                      <a:solidFill>
                        <a:srgbClr val="C9D3DB"/>
                      </a:solidFill>
                    </a:lnR>
                    <a:lnT w="9525" cmpd="sng">
                      <a:solidFill>
                        <a:srgbClr val="C9D3DB"/>
                      </a:solidFill>
                    </a:lnT>
                    <a:lnB w="9525" cmpd="sng">
                      <a:solidFill>
                        <a:srgbClr val="C9D3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5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5354B"/>
                          </a:solidFill>
                          <a:latin typeface="Arial"/>
                        </a:rPr>
                        <a:t>S2 (200)</a:t>
                      </a:r>
                    </a:p>
                  </a:txBody>
                  <a:tcPr marL="50800" marR="50800" marT="19050" marB="19050" anchor="ctr">
                    <a:lnL w="9525" cmpd="sng">
                      <a:solidFill>
                        <a:srgbClr val="C9D3DB"/>
                      </a:solidFill>
                    </a:lnL>
                    <a:lnR w="9525" cmpd="sng">
                      <a:solidFill>
                        <a:srgbClr val="C9D3DB"/>
                      </a:solidFill>
                    </a:lnR>
                    <a:lnT w="9525" cmpd="sng">
                      <a:solidFill>
                        <a:srgbClr val="C9D3DB"/>
                      </a:solidFill>
                    </a:lnT>
                    <a:lnB w="9525" cmpd="sng">
                      <a:solidFill>
                        <a:srgbClr val="C9D3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5354B"/>
                          </a:solidFill>
                          <a:latin typeface="Arial"/>
                        </a:rPr>
                        <a:t>A* energy</a:t>
                      </a:r>
                    </a:p>
                  </a:txBody>
                  <a:tcPr marL="50800" marR="50800" marT="19050" marB="19050" anchor="ctr">
                    <a:lnL w="9525" cmpd="sng">
                      <a:solidFill>
                        <a:srgbClr val="C9D3DB"/>
                      </a:solidFill>
                    </a:lnL>
                    <a:lnR w="9525" cmpd="sng">
                      <a:solidFill>
                        <a:srgbClr val="C9D3DB"/>
                      </a:solidFill>
                    </a:lnR>
                    <a:lnT w="9525" cmpd="sng">
                      <a:solidFill>
                        <a:srgbClr val="C9D3DB"/>
                      </a:solidFill>
                    </a:lnT>
                    <a:lnB w="9525" cmpd="sng">
                      <a:solidFill>
                        <a:srgbClr val="C9D3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15354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0800" marR="50800" marT="19050" marB="19050" anchor="ctr">
                    <a:lnL w="9525" cmpd="sng">
                      <a:solidFill>
                        <a:srgbClr val="C9D3DB"/>
                      </a:solidFill>
                    </a:lnL>
                    <a:lnR w="9525" cmpd="sng">
                      <a:solidFill>
                        <a:srgbClr val="C9D3DB"/>
                      </a:solidFill>
                    </a:lnR>
                    <a:lnT w="9525" cmpd="sng">
                      <a:solidFill>
                        <a:srgbClr val="C9D3DB"/>
                      </a:solidFill>
                    </a:lnT>
                    <a:lnB w="9525" cmpd="sng">
                      <a:solidFill>
                        <a:srgbClr val="C9D3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15354B"/>
                          </a:solidFill>
                          <a:latin typeface="Arial"/>
                        </a:rPr>
                        <a:t>&lt;0.001</a:t>
                      </a:r>
                    </a:p>
                  </a:txBody>
                  <a:tcPr marL="50800" marR="50800" marT="19050" marB="19050" anchor="ctr">
                    <a:lnL w="9525" cmpd="sng">
                      <a:solidFill>
                        <a:srgbClr val="C9D3DB"/>
                      </a:solidFill>
                    </a:lnL>
                    <a:lnR w="9525" cmpd="sng">
                      <a:solidFill>
                        <a:srgbClr val="C9D3DB"/>
                      </a:solidFill>
                    </a:lnR>
                    <a:lnT w="9525" cmpd="sng">
                      <a:solidFill>
                        <a:srgbClr val="C9D3DB"/>
                      </a:solidFill>
                    </a:lnT>
                    <a:lnB w="9525" cmpd="sng">
                      <a:solidFill>
                        <a:srgbClr val="C9D3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15354B"/>
                          </a:solidFill>
                          <a:latin typeface="Arial"/>
                        </a:rPr>
                        <a:t>1.083</a:t>
                      </a:r>
                    </a:p>
                  </a:txBody>
                  <a:tcPr marL="50800" marR="50800" marT="19050" marB="19050" anchor="ctr">
                    <a:lnL w="9525" cmpd="sng">
                      <a:solidFill>
                        <a:srgbClr val="C9D3DB"/>
                      </a:solidFill>
                    </a:lnL>
                    <a:lnR w="9525" cmpd="sng">
                      <a:solidFill>
                        <a:srgbClr val="C9D3DB"/>
                      </a:solidFill>
                    </a:lnR>
                    <a:lnT w="9525" cmpd="sng">
                      <a:solidFill>
                        <a:srgbClr val="C9D3DB"/>
                      </a:solidFill>
                    </a:lnT>
                    <a:lnB w="9525" cmpd="sng">
                      <a:solidFill>
                        <a:srgbClr val="C9D3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15354B"/>
                          </a:solidFill>
                          <a:latin typeface="Arial"/>
                        </a:rPr>
                        <a:t>0.648</a:t>
                      </a:r>
                    </a:p>
                  </a:txBody>
                  <a:tcPr marL="50800" marR="50800" marT="19050" marB="19050" anchor="ctr">
                    <a:lnL w="9525" cmpd="sng">
                      <a:solidFill>
                        <a:srgbClr val="C9D3DB"/>
                      </a:solidFill>
                    </a:lnL>
                    <a:lnR w="9525" cmpd="sng">
                      <a:solidFill>
                        <a:srgbClr val="C9D3DB"/>
                      </a:solidFill>
                    </a:lnR>
                    <a:lnT w="9525" cmpd="sng">
                      <a:solidFill>
                        <a:srgbClr val="C9D3DB"/>
                      </a:solidFill>
                    </a:lnT>
                    <a:lnB w="9525" cmpd="sng">
                      <a:solidFill>
                        <a:srgbClr val="C9D3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5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5354B"/>
                          </a:solidFill>
                          <a:latin typeface="Arial"/>
                        </a:rPr>
                        <a:t>S3 (500)</a:t>
                      </a:r>
                    </a:p>
                  </a:txBody>
                  <a:tcPr marL="50800" marR="50800" marT="19050" marB="19050" anchor="ctr">
                    <a:lnL w="9525" cmpd="sng">
                      <a:solidFill>
                        <a:srgbClr val="C9D3DB"/>
                      </a:solidFill>
                    </a:lnL>
                    <a:lnR w="9525" cmpd="sng">
                      <a:solidFill>
                        <a:srgbClr val="C9D3DB"/>
                      </a:solidFill>
                    </a:lnR>
                    <a:lnT w="9525" cmpd="sng">
                      <a:solidFill>
                        <a:srgbClr val="C9D3DB"/>
                      </a:solidFill>
                    </a:lnT>
                    <a:lnB w="9525" cmpd="sng">
                      <a:solidFill>
                        <a:srgbClr val="C9D3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15354B"/>
                          </a:solidFill>
                          <a:latin typeface="Arial"/>
                        </a:rPr>
                        <a:t>NAMOA* (Tier 1)</a:t>
                      </a:r>
                    </a:p>
                  </a:txBody>
                  <a:tcPr marL="50800" marR="50800" marT="19050" marB="19050" anchor="ctr">
                    <a:lnL w="9525" cmpd="sng">
                      <a:solidFill>
                        <a:srgbClr val="C9D3DB"/>
                      </a:solidFill>
                    </a:lnL>
                    <a:lnR w="9525" cmpd="sng">
                      <a:solidFill>
                        <a:srgbClr val="C9D3DB"/>
                      </a:solidFill>
                    </a:lnR>
                    <a:lnT w="9525" cmpd="sng">
                      <a:solidFill>
                        <a:srgbClr val="C9D3DB"/>
                      </a:solidFill>
                    </a:lnT>
                    <a:lnB w="9525" cmpd="sng">
                      <a:solidFill>
                        <a:srgbClr val="C9D3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15354B"/>
                          </a:solidFill>
                          <a:latin typeface="Arial"/>
                        </a:rPr>
                        <a:t>115</a:t>
                      </a:r>
                    </a:p>
                  </a:txBody>
                  <a:tcPr marL="50800" marR="50800" marT="19050" marB="19050" anchor="ctr">
                    <a:lnL w="9525" cmpd="sng">
                      <a:solidFill>
                        <a:srgbClr val="C9D3DB"/>
                      </a:solidFill>
                    </a:lnL>
                    <a:lnR w="9525" cmpd="sng">
                      <a:solidFill>
                        <a:srgbClr val="C9D3DB"/>
                      </a:solidFill>
                    </a:lnR>
                    <a:lnT w="9525" cmpd="sng">
                      <a:solidFill>
                        <a:srgbClr val="C9D3DB"/>
                      </a:solidFill>
                    </a:lnT>
                    <a:lnB w="9525" cmpd="sng">
                      <a:solidFill>
                        <a:srgbClr val="C9D3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15354B"/>
                          </a:solidFill>
                          <a:latin typeface="Arial"/>
                        </a:rPr>
                        <a:t>33.761</a:t>
                      </a:r>
                    </a:p>
                  </a:txBody>
                  <a:tcPr marL="50800" marR="50800" marT="19050" marB="19050" anchor="ctr">
                    <a:lnL w="9525" cmpd="sng">
                      <a:solidFill>
                        <a:srgbClr val="C9D3DB"/>
                      </a:solidFill>
                    </a:lnL>
                    <a:lnR w="9525" cmpd="sng">
                      <a:solidFill>
                        <a:srgbClr val="C9D3DB"/>
                      </a:solidFill>
                    </a:lnR>
                    <a:lnT w="9525" cmpd="sng">
                      <a:solidFill>
                        <a:srgbClr val="C9D3DB"/>
                      </a:solidFill>
                    </a:lnT>
                    <a:lnB w="9525" cmpd="sng">
                      <a:solidFill>
                        <a:srgbClr val="C9D3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15354B"/>
                          </a:solidFill>
                          <a:latin typeface="Arial"/>
                        </a:rPr>
                        <a:t>1.1235</a:t>
                      </a:r>
                    </a:p>
                  </a:txBody>
                  <a:tcPr marL="50800" marR="50800" marT="19050" marB="19050" anchor="ctr">
                    <a:lnL w="9525" cmpd="sng">
                      <a:solidFill>
                        <a:srgbClr val="C9D3DB"/>
                      </a:solidFill>
                    </a:lnL>
                    <a:lnR w="9525" cmpd="sng">
                      <a:solidFill>
                        <a:srgbClr val="C9D3DB"/>
                      </a:solidFill>
                    </a:lnR>
                    <a:lnT w="9525" cmpd="sng">
                      <a:solidFill>
                        <a:srgbClr val="C9D3DB"/>
                      </a:solidFill>
                    </a:lnT>
                    <a:lnB w="9525" cmpd="sng">
                      <a:solidFill>
                        <a:srgbClr val="C9D3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15354B"/>
                          </a:solidFill>
                          <a:latin typeface="Arial"/>
                        </a:rPr>
                        <a:t>0.000</a:t>
                      </a:r>
                    </a:p>
                  </a:txBody>
                  <a:tcPr marL="50800" marR="50800" marT="19050" marB="19050" anchor="ctr">
                    <a:lnL w="9525" cmpd="sng">
                      <a:solidFill>
                        <a:srgbClr val="C9D3DB"/>
                      </a:solidFill>
                    </a:lnL>
                    <a:lnR w="9525" cmpd="sng">
                      <a:solidFill>
                        <a:srgbClr val="C9D3DB"/>
                      </a:solidFill>
                    </a:lnR>
                    <a:lnT w="9525" cmpd="sng">
                      <a:solidFill>
                        <a:srgbClr val="C9D3DB"/>
                      </a:solidFill>
                    </a:lnT>
                    <a:lnB w="9525" cmpd="sng">
                      <a:solidFill>
                        <a:srgbClr val="C9D3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5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5354B"/>
                          </a:solidFill>
                          <a:latin typeface="Arial"/>
                        </a:rPr>
                        <a:t>S3 (500)</a:t>
                      </a:r>
                    </a:p>
                  </a:txBody>
                  <a:tcPr marL="50800" marR="50800" marT="19050" marB="19050" anchor="ctr">
                    <a:lnL w="9525" cmpd="sng">
                      <a:solidFill>
                        <a:srgbClr val="C9D3DB"/>
                      </a:solidFill>
                    </a:lnL>
                    <a:lnR w="9525" cmpd="sng">
                      <a:solidFill>
                        <a:srgbClr val="C9D3DB"/>
                      </a:solidFill>
                    </a:lnR>
                    <a:lnT w="9525" cmpd="sng">
                      <a:solidFill>
                        <a:srgbClr val="C9D3DB"/>
                      </a:solidFill>
                    </a:lnT>
                    <a:lnB w="9525" cmpd="sng">
                      <a:solidFill>
                        <a:srgbClr val="C9D3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5354B"/>
                          </a:solidFill>
                          <a:latin typeface="Arial"/>
                        </a:rPr>
                        <a:t>MOPSO</a:t>
                      </a:r>
                    </a:p>
                  </a:txBody>
                  <a:tcPr marL="50800" marR="50800" marT="19050" marB="19050" anchor="ctr">
                    <a:lnL w="9525" cmpd="sng">
                      <a:solidFill>
                        <a:srgbClr val="C9D3DB"/>
                      </a:solidFill>
                    </a:lnL>
                    <a:lnR w="9525" cmpd="sng">
                      <a:solidFill>
                        <a:srgbClr val="C9D3DB"/>
                      </a:solidFill>
                    </a:lnR>
                    <a:lnT w="9525" cmpd="sng">
                      <a:solidFill>
                        <a:srgbClr val="C9D3DB"/>
                      </a:solidFill>
                    </a:lnT>
                    <a:lnB w="9525" cmpd="sng">
                      <a:solidFill>
                        <a:srgbClr val="C9D3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15354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50800" marR="50800" marT="19050" marB="19050" anchor="ctr">
                    <a:lnL w="9525" cmpd="sng">
                      <a:solidFill>
                        <a:srgbClr val="C9D3DB"/>
                      </a:solidFill>
                    </a:lnL>
                    <a:lnR w="9525" cmpd="sng">
                      <a:solidFill>
                        <a:srgbClr val="C9D3DB"/>
                      </a:solidFill>
                    </a:lnR>
                    <a:lnT w="9525" cmpd="sng">
                      <a:solidFill>
                        <a:srgbClr val="C9D3DB"/>
                      </a:solidFill>
                    </a:lnT>
                    <a:lnB w="9525" cmpd="sng">
                      <a:solidFill>
                        <a:srgbClr val="C9D3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15354B"/>
                          </a:solidFill>
                          <a:latin typeface="Arial"/>
                        </a:rPr>
                        <a:t>4.326</a:t>
                      </a:r>
                    </a:p>
                  </a:txBody>
                  <a:tcPr marL="50800" marR="50800" marT="19050" marB="19050" anchor="ctr">
                    <a:lnL w="9525" cmpd="sng">
                      <a:solidFill>
                        <a:srgbClr val="C9D3DB"/>
                      </a:solidFill>
                    </a:lnL>
                    <a:lnR w="9525" cmpd="sng">
                      <a:solidFill>
                        <a:srgbClr val="C9D3DB"/>
                      </a:solidFill>
                    </a:lnR>
                    <a:lnT w="9525" cmpd="sng">
                      <a:solidFill>
                        <a:srgbClr val="C9D3DB"/>
                      </a:solidFill>
                    </a:lnT>
                    <a:lnB w="9525" cmpd="sng">
                      <a:solidFill>
                        <a:srgbClr val="C9D3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15354B"/>
                          </a:solidFill>
                          <a:latin typeface="Arial"/>
                        </a:rPr>
                        <a:t>1.1146</a:t>
                      </a:r>
                    </a:p>
                  </a:txBody>
                  <a:tcPr marL="50800" marR="50800" marT="19050" marB="19050" anchor="ctr">
                    <a:lnL w="9525" cmpd="sng">
                      <a:solidFill>
                        <a:srgbClr val="C9D3DB"/>
                      </a:solidFill>
                    </a:lnL>
                    <a:lnR w="9525" cmpd="sng">
                      <a:solidFill>
                        <a:srgbClr val="C9D3DB"/>
                      </a:solidFill>
                    </a:lnR>
                    <a:lnT w="9525" cmpd="sng">
                      <a:solidFill>
                        <a:srgbClr val="C9D3DB"/>
                      </a:solidFill>
                    </a:lnT>
                    <a:lnB w="9525" cmpd="sng">
                      <a:solidFill>
                        <a:srgbClr val="C9D3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15354B"/>
                          </a:solidFill>
                          <a:latin typeface="Arial"/>
                        </a:rPr>
                        <a:t>0.043</a:t>
                      </a:r>
                    </a:p>
                  </a:txBody>
                  <a:tcPr marL="50800" marR="50800" marT="19050" marB="19050" anchor="ctr">
                    <a:lnL w="9525" cmpd="sng">
                      <a:solidFill>
                        <a:srgbClr val="C9D3DB"/>
                      </a:solidFill>
                    </a:lnL>
                    <a:lnR w="9525" cmpd="sng">
                      <a:solidFill>
                        <a:srgbClr val="C9D3DB"/>
                      </a:solidFill>
                    </a:lnR>
                    <a:lnT w="9525" cmpd="sng">
                      <a:solidFill>
                        <a:srgbClr val="C9D3DB"/>
                      </a:solidFill>
                    </a:lnT>
                    <a:lnB w="9525" cmpd="sng">
                      <a:solidFill>
                        <a:srgbClr val="C9D3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5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5354B"/>
                          </a:solidFill>
                          <a:latin typeface="Arial"/>
                        </a:rPr>
                        <a:t>S3 (500)</a:t>
                      </a:r>
                    </a:p>
                  </a:txBody>
                  <a:tcPr marL="50800" marR="50800" marT="19050" marB="19050" anchor="ctr">
                    <a:lnL w="9525" cmpd="sng">
                      <a:solidFill>
                        <a:srgbClr val="C9D3DB"/>
                      </a:solidFill>
                    </a:lnL>
                    <a:lnR w="9525" cmpd="sng">
                      <a:solidFill>
                        <a:srgbClr val="C9D3DB"/>
                      </a:solidFill>
                    </a:lnR>
                    <a:lnT w="9525" cmpd="sng">
                      <a:solidFill>
                        <a:srgbClr val="C9D3DB"/>
                      </a:solidFill>
                    </a:lnT>
                    <a:lnB w="9525" cmpd="sng">
                      <a:solidFill>
                        <a:srgbClr val="C9D3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5354B"/>
                          </a:solidFill>
                          <a:latin typeface="Arial"/>
                        </a:rPr>
                        <a:t>A* energy</a:t>
                      </a:r>
                    </a:p>
                  </a:txBody>
                  <a:tcPr marL="50800" marR="50800" marT="19050" marB="19050" anchor="ctr">
                    <a:lnL w="9525" cmpd="sng">
                      <a:solidFill>
                        <a:srgbClr val="C9D3DB"/>
                      </a:solidFill>
                    </a:lnL>
                    <a:lnR w="9525" cmpd="sng">
                      <a:solidFill>
                        <a:srgbClr val="C9D3DB"/>
                      </a:solidFill>
                    </a:lnR>
                    <a:lnT w="9525" cmpd="sng">
                      <a:solidFill>
                        <a:srgbClr val="C9D3DB"/>
                      </a:solidFill>
                    </a:lnT>
                    <a:lnB w="9525" cmpd="sng">
                      <a:solidFill>
                        <a:srgbClr val="C9D3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15354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0800" marR="50800" marT="19050" marB="19050" anchor="ctr">
                    <a:lnL w="9525" cmpd="sng">
                      <a:solidFill>
                        <a:srgbClr val="C9D3DB"/>
                      </a:solidFill>
                    </a:lnL>
                    <a:lnR w="9525" cmpd="sng">
                      <a:solidFill>
                        <a:srgbClr val="C9D3DB"/>
                      </a:solidFill>
                    </a:lnR>
                    <a:lnT w="9525" cmpd="sng">
                      <a:solidFill>
                        <a:srgbClr val="C9D3DB"/>
                      </a:solidFill>
                    </a:lnT>
                    <a:lnB w="9525" cmpd="sng">
                      <a:solidFill>
                        <a:srgbClr val="C9D3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15354B"/>
                          </a:solidFill>
                          <a:latin typeface="Arial"/>
                        </a:rPr>
                        <a:t>0.002</a:t>
                      </a:r>
                    </a:p>
                  </a:txBody>
                  <a:tcPr marL="50800" marR="50800" marT="19050" marB="19050" anchor="ctr">
                    <a:lnL w="9525" cmpd="sng">
                      <a:solidFill>
                        <a:srgbClr val="C9D3DB"/>
                      </a:solidFill>
                    </a:lnL>
                    <a:lnR w="9525" cmpd="sng">
                      <a:solidFill>
                        <a:srgbClr val="C9D3DB"/>
                      </a:solidFill>
                    </a:lnR>
                    <a:lnT w="9525" cmpd="sng">
                      <a:solidFill>
                        <a:srgbClr val="C9D3DB"/>
                      </a:solidFill>
                    </a:lnT>
                    <a:lnB w="9525" cmpd="sng">
                      <a:solidFill>
                        <a:srgbClr val="C9D3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15354B"/>
                          </a:solidFill>
                          <a:latin typeface="Arial"/>
                        </a:rPr>
                        <a:t>0.674</a:t>
                      </a:r>
                    </a:p>
                  </a:txBody>
                  <a:tcPr marL="50800" marR="50800" marT="19050" marB="19050" anchor="ctr">
                    <a:lnL w="9525" cmpd="sng">
                      <a:solidFill>
                        <a:srgbClr val="C9D3DB"/>
                      </a:solidFill>
                    </a:lnL>
                    <a:lnR w="9525" cmpd="sng">
                      <a:solidFill>
                        <a:srgbClr val="C9D3DB"/>
                      </a:solidFill>
                    </a:lnR>
                    <a:lnT w="9525" cmpd="sng">
                      <a:solidFill>
                        <a:srgbClr val="C9D3DB"/>
                      </a:solidFill>
                    </a:lnT>
                    <a:lnB w="9525" cmpd="sng">
                      <a:solidFill>
                        <a:srgbClr val="C9D3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15354B"/>
                          </a:solidFill>
                          <a:latin typeface="Arial"/>
                        </a:rPr>
                        <a:t>0.442</a:t>
                      </a:r>
                    </a:p>
                  </a:txBody>
                  <a:tcPr marL="50800" marR="50800" marT="19050" marB="19050" anchor="ctr">
                    <a:lnL w="9525" cmpd="sng">
                      <a:solidFill>
                        <a:srgbClr val="C9D3DB"/>
                      </a:solidFill>
                    </a:lnL>
                    <a:lnR w="9525" cmpd="sng">
                      <a:solidFill>
                        <a:srgbClr val="C9D3DB"/>
                      </a:solidFill>
                    </a:lnR>
                    <a:lnT w="9525" cmpd="sng">
                      <a:solidFill>
                        <a:srgbClr val="C9D3DB"/>
                      </a:solidFill>
                    </a:lnT>
                    <a:lnB w="9525" cmpd="sng">
                      <a:solidFill>
                        <a:srgbClr val="C9D3D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0" name="Tier 1 Explanation"/>
          <p:cNvSpPr txBox="1"/>
          <p:nvPr/>
        </p:nvSpPr>
        <p:spPr>
          <a:xfrm>
            <a:off x="20167687" y="7435179"/>
            <a:ext cx="9421677" cy="6054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00"/>
              </a:lnSpc>
            </a:pPr>
            <a:r>
              <a:rPr sz="1550" b="0">
                <a:solidFill>
                  <a:srgbClr val="15354B"/>
                </a:solidFill>
                <a:latin typeface="Arial"/>
              </a:rPr>
              <a:t>NAMOA* recovers the whole reference front (IGD 0) with the best HV; MOPSO finds only 12 and 38 routes and A* one. Exactness costs 33.8 s on S3, paid once per region and weather window.</a:t>
            </a:r>
          </a:p>
        </p:txBody>
      </p:sp>
      <p:sp>
        <p:nvSpPr>
          <p:cNvPr id="51" name="Tier 2 Table Title"/>
          <p:cNvSpPr txBox="1"/>
          <p:nvPr/>
        </p:nvSpPr>
        <p:spPr>
          <a:xfrm>
            <a:off x="20167687" y="8191940"/>
            <a:ext cx="9421677" cy="3405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87F8C"/>
                </a:solidFill>
                <a:latin typeface="Arial"/>
              </a:rPr>
              <a:t>Tier 2 picks on the S3 front (115 routes)</a:t>
            </a:r>
          </a:p>
        </p:txBody>
      </p:sp>
      <p:graphicFrame>
        <p:nvGraphicFramePr>
          <p:cNvPr id="52" name="Tier 2 Picks Table"/>
          <p:cNvGraphicFramePr>
            <a:graphicFrameLocks noGrp="1"/>
          </p:cNvGraphicFramePr>
          <p:nvPr/>
        </p:nvGraphicFramePr>
        <p:xfrm>
          <a:off x="20129849" y="8551402"/>
          <a:ext cx="9421674" cy="1371625"/>
        </p:xfrm>
        <a:graphic>
          <a:graphicData uri="http://schemas.openxmlformats.org/drawingml/2006/table">
            <a:tbl>
              <a:tblPr firstRow="1" bandRow="0"/>
              <a:tblGrid>
                <a:gridCol w="2837854"/>
                <a:gridCol w="889194"/>
                <a:gridCol w="983789"/>
                <a:gridCol w="832437"/>
                <a:gridCol w="1021627"/>
                <a:gridCol w="1494603"/>
                <a:gridCol w="1362170"/>
              </a:tblGrid>
              <a:tr h="274325"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</a:rPr>
                        <a:t>Preset (F, W, U, P)</a:t>
                      </a:r>
                    </a:p>
                  </a:txBody>
                  <a:tcPr marL="50800" marR="50800" marT="19050" marB="19050" anchor="ctr">
                    <a:lnL w="9525" cmpd="sng">
                      <a:solidFill>
                        <a:srgbClr val="15354B"/>
                      </a:solidFill>
                    </a:lnL>
                    <a:lnR w="9525" cmpd="sng">
                      <a:solidFill>
                        <a:srgbClr val="15354B"/>
                      </a:solidFill>
                    </a:lnR>
                    <a:lnT w="9525" cmpd="sng">
                      <a:solidFill>
                        <a:srgbClr val="15354B"/>
                      </a:solidFill>
                    </a:lnT>
                    <a:lnB w="9525" cmpd="sng">
                      <a:solidFill>
                        <a:srgbClr val="15354B"/>
                      </a:solidFill>
                    </a:lnB>
                    <a:solidFill>
                      <a:srgbClr val="1535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</a:rPr>
                        <a:t>Dist</a:t>
                      </a:r>
                    </a:p>
                  </a:txBody>
                  <a:tcPr marL="50800" marR="50800" marT="19050" marB="19050" anchor="ctr">
                    <a:lnL w="9525" cmpd="sng">
                      <a:solidFill>
                        <a:srgbClr val="15354B"/>
                      </a:solidFill>
                    </a:lnL>
                    <a:lnR w="9525" cmpd="sng">
                      <a:solidFill>
                        <a:srgbClr val="15354B"/>
                      </a:solidFill>
                    </a:lnR>
                    <a:lnT w="9525" cmpd="sng">
                      <a:solidFill>
                        <a:srgbClr val="15354B"/>
                      </a:solidFill>
                    </a:lnT>
                    <a:lnB w="9525" cmpd="sng">
                      <a:solidFill>
                        <a:srgbClr val="15354B"/>
                      </a:solidFill>
                    </a:lnB>
                    <a:solidFill>
                      <a:srgbClr val="1535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</a:rPr>
                        <a:t>Energy</a:t>
                      </a:r>
                    </a:p>
                  </a:txBody>
                  <a:tcPr marL="50800" marR="50800" marT="19050" marB="19050" anchor="ctr">
                    <a:lnL w="9525" cmpd="sng">
                      <a:solidFill>
                        <a:srgbClr val="15354B"/>
                      </a:solidFill>
                    </a:lnL>
                    <a:lnR w="9525" cmpd="sng">
                      <a:solidFill>
                        <a:srgbClr val="15354B"/>
                      </a:solidFill>
                    </a:lnR>
                    <a:lnT w="9525" cmpd="sng">
                      <a:solidFill>
                        <a:srgbClr val="15354B"/>
                      </a:solidFill>
                    </a:lnT>
                    <a:lnB w="9525" cmpd="sng">
                      <a:solidFill>
                        <a:srgbClr val="15354B"/>
                      </a:solidFill>
                    </a:lnB>
                    <a:solidFill>
                      <a:srgbClr val="1535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</a:rPr>
                        <a:t>Risk</a:t>
                      </a:r>
                    </a:p>
                  </a:txBody>
                  <a:tcPr marL="50800" marR="50800" marT="19050" marB="19050" anchor="ctr">
                    <a:lnL w="9525" cmpd="sng">
                      <a:solidFill>
                        <a:srgbClr val="15354B"/>
                      </a:solidFill>
                    </a:lnL>
                    <a:lnR w="9525" cmpd="sng">
                      <a:solidFill>
                        <a:srgbClr val="15354B"/>
                      </a:solidFill>
                    </a:lnR>
                    <a:lnT w="9525" cmpd="sng">
                      <a:solidFill>
                        <a:srgbClr val="15354B"/>
                      </a:solidFill>
                    </a:lnT>
                    <a:lnB w="9525" cmpd="sng">
                      <a:solidFill>
                        <a:srgbClr val="15354B"/>
                      </a:solidFill>
                    </a:lnB>
                    <a:solidFill>
                      <a:srgbClr val="1535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</a:rPr>
                        <a:t>Risk rank</a:t>
                      </a:r>
                    </a:p>
                  </a:txBody>
                  <a:tcPr marL="50800" marR="50800" marT="19050" marB="19050" anchor="ctr">
                    <a:lnL w="9525" cmpd="sng">
                      <a:solidFill>
                        <a:srgbClr val="15354B"/>
                      </a:solidFill>
                    </a:lnL>
                    <a:lnR w="9525" cmpd="sng">
                      <a:solidFill>
                        <a:srgbClr val="15354B"/>
                      </a:solidFill>
                    </a:lnR>
                    <a:lnT w="9525" cmpd="sng">
                      <a:solidFill>
                        <a:srgbClr val="15354B"/>
                      </a:solidFill>
                    </a:lnT>
                    <a:lnB w="9525" cmpd="sng">
                      <a:solidFill>
                        <a:srgbClr val="15354B"/>
                      </a:solidFill>
                    </a:lnB>
                    <a:solidFill>
                      <a:srgbClr val="1535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</a:rPr>
                        <a:t>Point type</a:t>
                      </a:r>
                    </a:p>
                  </a:txBody>
                  <a:tcPr marL="50800" marR="50800" marT="19050" marB="19050" anchor="ctr">
                    <a:lnL w="9525" cmpd="sng">
                      <a:solidFill>
                        <a:srgbClr val="15354B"/>
                      </a:solidFill>
                    </a:lnL>
                    <a:lnR w="9525" cmpd="sng">
                      <a:solidFill>
                        <a:srgbClr val="15354B"/>
                      </a:solidFill>
                    </a:lnR>
                    <a:lnT w="9525" cmpd="sng">
                      <a:solidFill>
                        <a:srgbClr val="15354B"/>
                      </a:solidFill>
                    </a:lnT>
                    <a:lnB w="9525" cmpd="sng">
                      <a:solidFill>
                        <a:srgbClr val="15354B"/>
                      </a:solidFill>
                    </a:lnB>
                    <a:solidFill>
                      <a:srgbClr val="1535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</a:rPr>
                        <a:t>Latency</a:t>
                      </a:r>
                    </a:p>
                  </a:txBody>
                  <a:tcPr marL="50800" marR="50800" marT="19050" marB="19050" anchor="ctr">
                    <a:lnL w="9525" cmpd="sng">
                      <a:solidFill>
                        <a:srgbClr val="15354B"/>
                      </a:solidFill>
                    </a:lnL>
                    <a:lnR w="9525" cmpd="sng">
                      <a:solidFill>
                        <a:srgbClr val="15354B"/>
                      </a:solidFill>
                    </a:lnR>
                    <a:lnT w="9525" cmpd="sng">
                      <a:solidFill>
                        <a:srgbClr val="15354B"/>
                      </a:solidFill>
                    </a:lnT>
                    <a:lnB w="9525" cmpd="sng">
                      <a:solidFill>
                        <a:srgbClr val="15354B"/>
                      </a:solidFill>
                    </a:lnB>
                    <a:solidFill>
                      <a:srgbClr val="15354B"/>
                    </a:solidFill>
                  </a:tcPr>
                </a:tc>
              </a:tr>
              <a:tr h="274325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5354B"/>
                          </a:solidFill>
                          <a:latin typeface="Arial"/>
                        </a:rPr>
                        <a:t>Fragile medical (5,1,1,3)</a:t>
                      </a:r>
                    </a:p>
                  </a:txBody>
                  <a:tcPr marL="50800" marR="50800" marT="19050" marB="19050" anchor="ctr">
                    <a:lnL w="9525" cmpd="sng">
                      <a:solidFill>
                        <a:srgbClr val="C9D3DB"/>
                      </a:solidFill>
                    </a:lnL>
                    <a:lnR w="9525" cmpd="sng">
                      <a:solidFill>
                        <a:srgbClr val="C9D3DB"/>
                      </a:solidFill>
                    </a:lnR>
                    <a:lnT w="9525" cmpd="sng">
                      <a:solidFill>
                        <a:srgbClr val="C9D3DB"/>
                      </a:solidFill>
                    </a:lnT>
                    <a:lnB w="9525" cmpd="sng">
                      <a:solidFill>
                        <a:srgbClr val="C9D3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15354B"/>
                          </a:solidFill>
                          <a:latin typeface="Arial"/>
                        </a:rPr>
                        <a:t>41.02</a:t>
                      </a:r>
                    </a:p>
                  </a:txBody>
                  <a:tcPr marL="50800" marR="50800" marT="19050" marB="19050" anchor="ctr">
                    <a:lnL w="9525" cmpd="sng">
                      <a:solidFill>
                        <a:srgbClr val="C9D3DB"/>
                      </a:solidFill>
                    </a:lnL>
                    <a:lnR w="9525" cmpd="sng">
                      <a:solidFill>
                        <a:srgbClr val="C9D3DB"/>
                      </a:solidFill>
                    </a:lnR>
                    <a:lnT w="9525" cmpd="sng">
                      <a:solidFill>
                        <a:srgbClr val="C9D3DB"/>
                      </a:solidFill>
                    </a:lnT>
                    <a:lnB w="9525" cmpd="sng">
                      <a:solidFill>
                        <a:srgbClr val="C9D3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15354B"/>
                          </a:solidFill>
                          <a:latin typeface="Arial"/>
                        </a:rPr>
                        <a:t>45.86</a:t>
                      </a:r>
                    </a:p>
                  </a:txBody>
                  <a:tcPr marL="50800" marR="50800" marT="19050" marB="19050" anchor="ctr">
                    <a:lnL w="9525" cmpd="sng">
                      <a:solidFill>
                        <a:srgbClr val="C9D3DB"/>
                      </a:solidFill>
                    </a:lnL>
                    <a:lnR w="9525" cmpd="sng">
                      <a:solidFill>
                        <a:srgbClr val="C9D3DB"/>
                      </a:solidFill>
                    </a:lnR>
                    <a:lnT w="9525" cmpd="sng">
                      <a:solidFill>
                        <a:srgbClr val="C9D3DB"/>
                      </a:solidFill>
                    </a:lnT>
                    <a:lnB w="9525" cmpd="sng">
                      <a:solidFill>
                        <a:srgbClr val="C9D3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15354B"/>
                          </a:solidFill>
                          <a:latin typeface="Arial"/>
                        </a:rPr>
                        <a:t>1.92</a:t>
                      </a:r>
                    </a:p>
                  </a:txBody>
                  <a:tcPr marL="50800" marR="50800" marT="19050" marB="19050" anchor="ctr">
                    <a:lnL w="9525" cmpd="sng">
                      <a:solidFill>
                        <a:srgbClr val="C9D3DB"/>
                      </a:solidFill>
                    </a:lnL>
                    <a:lnR w="9525" cmpd="sng">
                      <a:solidFill>
                        <a:srgbClr val="C9D3DB"/>
                      </a:solidFill>
                    </a:lnR>
                    <a:lnT w="9525" cmpd="sng">
                      <a:solidFill>
                        <a:srgbClr val="C9D3DB"/>
                      </a:solidFill>
                    </a:lnT>
                    <a:lnB w="9525" cmpd="sng">
                      <a:solidFill>
                        <a:srgbClr val="C9D3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15354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50800" marR="50800" marT="19050" marB="19050" anchor="ctr">
                    <a:lnL w="9525" cmpd="sng">
                      <a:solidFill>
                        <a:srgbClr val="C9D3DB"/>
                      </a:solidFill>
                    </a:lnL>
                    <a:lnR w="9525" cmpd="sng">
                      <a:solidFill>
                        <a:srgbClr val="C9D3DB"/>
                      </a:solidFill>
                    </a:lnR>
                    <a:lnT w="9525" cmpd="sng">
                      <a:solidFill>
                        <a:srgbClr val="C9D3DB"/>
                      </a:solidFill>
                    </a:lnT>
                    <a:lnB w="9525" cmpd="sng">
                      <a:solidFill>
                        <a:srgbClr val="C9D3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15354B"/>
                          </a:solidFill>
                          <a:latin typeface="Arial"/>
                        </a:rPr>
                        <a:t>non-extreme</a:t>
                      </a:r>
                    </a:p>
                  </a:txBody>
                  <a:tcPr marL="50800" marR="50800" marT="19050" marB="19050" anchor="ctr">
                    <a:lnL w="9525" cmpd="sng">
                      <a:solidFill>
                        <a:srgbClr val="C9D3DB"/>
                      </a:solidFill>
                    </a:lnL>
                    <a:lnR w="9525" cmpd="sng">
                      <a:solidFill>
                        <a:srgbClr val="C9D3DB"/>
                      </a:solidFill>
                    </a:lnR>
                    <a:lnT w="9525" cmpd="sng">
                      <a:solidFill>
                        <a:srgbClr val="C9D3DB"/>
                      </a:solidFill>
                    </a:lnT>
                    <a:lnB w="9525" cmpd="sng">
                      <a:solidFill>
                        <a:srgbClr val="C9D3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15354B"/>
                          </a:solidFill>
                          <a:latin typeface="Arial"/>
                        </a:rPr>
                        <a:t>0.144 ms</a:t>
                      </a:r>
                    </a:p>
                  </a:txBody>
                  <a:tcPr marL="50800" marR="50800" marT="19050" marB="19050" anchor="ctr">
                    <a:lnL w="9525" cmpd="sng">
                      <a:solidFill>
                        <a:srgbClr val="C9D3DB"/>
                      </a:solidFill>
                    </a:lnL>
                    <a:lnR w="9525" cmpd="sng">
                      <a:solidFill>
                        <a:srgbClr val="C9D3DB"/>
                      </a:solidFill>
                    </a:lnR>
                    <a:lnT w="9525" cmpd="sng">
                      <a:solidFill>
                        <a:srgbClr val="C9D3DB"/>
                      </a:solidFill>
                    </a:lnT>
                    <a:lnB w="9525" cmpd="sng">
                      <a:solidFill>
                        <a:srgbClr val="C9D3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5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5354B"/>
                          </a:solidFill>
                          <a:latin typeface="Arial"/>
                        </a:rPr>
                        <a:t>Emergency medicine (1,1,3,5)</a:t>
                      </a:r>
                    </a:p>
                  </a:txBody>
                  <a:tcPr marL="50800" marR="50800" marT="19050" marB="19050" anchor="ctr">
                    <a:lnL w="9525" cmpd="sng">
                      <a:solidFill>
                        <a:srgbClr val="C9D3DB"/>
                      </a:solidFill>
                    </a:lnL>
                    <a:lnR w="9525" cmpd="sng">
                      <a:solidFill>
                        <a:srgbClr val="C9D3DB"/>
                      </a:solidFill>
                    </a:lnR>
                    <a:lnT w="9525" cmpd="sng">
                      <a:solidFill>
                        <a:srgbClr val="C9D3DB"/>
                      </a:solidFill>
                    </a:lnT>
                    <a:lnB w="9525" cmpd="sng">
                      <a:solidFill>
                        <a:srgbClr val="C9D3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15354B"/>
                          </a:solidFill>
                          <a:latin typeface="Arial"/>
                        </a:rPr>
                        <a:t>37.11</a:t>
                      </a:r>
                    </a:p>
                  </a:txBody>
                  <a:tcPr marL="50800" marR="50800" marT="19050" marB="19050" anchor="ctr">
                    <a:lnL w="9525" cmpd="sng">
                      <a:solidFill>
                        <a:srgbClr val="C9D3DB"/>
                      </a:solidFill>
                    </a:lnL>
                    <a:lnR w="9525" cmpd="sng">
                      <a:solidFill>
                        <a:srgbClr val="C9D3DB"/>
                      </a:solidFill>
                    </a:lnR>
                    <a:lnT w="9525" cmpd="sng">
                      <a:solidFill>
                        <a:srgbClr val="C9D3DB"/>
                      </a:solidFill>
                    </a:lnT>
                    <a:lnB w="9525" cmpd="sng">
                      <a:solidFill>
                        <a:srgbClr val="C9D3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15354B"/>
                          </a:solidFill>
                          <a:latin typeface="Arial"/>
                        </a:rPr>
                        <a:t>44.71</a:t>
                      </a:r>
                    </a:p>
                  </a:txBody>
                  <a:tcPr marL="50800" marR="50800" marT="19050" marB="19050" anchor="ctr">
                    <a:lnL w="9525" cmpd="sng">
                      <a:solidFill>
                        <a:srgbClr val="C9D3DB"/>
                      </a:solidFill>
                    </a:lnL>
                    <a:lnR w="9525" cmpd="sng">
                      <a:solidFill>
                        <a:srgbClr val="C9D3DB"/>
                      </a:solidFill>
                    </a:lnR>
                    <a:lnT w="9525" cmpd="sng">
                      <a:solidFill>
                        <a:srgbClr val="C9D3DB"/>
                      </a:solidFill>
                    </a:lnT>
                    <a:lnB w="9525" cmpd="sng">
                      <a:solidFill>
                        <a:srgbClr val="C9D3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15354B"/>
                          </a:solidFill>
                          <a:latin typeface="Arial"/>
                        </a:rPr>
                        <a:t>6.56</a:t>
                      </a:r>
                    </a:p>
                  </a:txBody>
                  <a:tcPr marL="50800" marR="50800" marT="19050" marB="19050" anchor="ctr">
                    <a:lnL w="9525" cmpd="sng">
                      <a:solidFill>
                        <a:srgbClr val="C9D3DB"/>
                      </a:solidFill>
                    </a:lnL>
                    <a:lnR w="9525" cmpd="sng">
                      <a:solidFill>
                        <a:srgbClr val="C9D3DB"/>
                      </a:solidFill>
                    </a:lnR>
                    <a:lnT w="9525" cmpd="sng">
                      <a:solidFill>
                        <a:srgbClr val="C9D3DB"/>
                      </a:solidFill>
                    </a:lnT>
                    <a:lnB w="9525" cmpd="sng">
                      <a:solidFill>
                        <a:srgbClr val="C9D3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15354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50800" marR="50800" marT="19050" marB="19050" anchor="ctr">
                    <a:lnL w="9525" cmpd="sng">
                      <a:solidFill>
                        <a:srgbClr val="C9D3DB"/>
                      </a:solidFill>
                    </a:lnL>
                    <a:lnR w="9525" cmpd="sng">
                      <a:solidFill>
                        <a:srgbClr val="C9D3DB"/>
                      </a:solidFill>
                    </a:lnR>
                    <a:lnT w="9525" cmpd="sng">
                      <a:solidFill>
                        <a:srgbClr val="C9D3DB"/>
                      </a:solidFill>
                    </a:lnT>
                    <a:lnB w="9525" cmpd="sng">
                      <a:solidFill>
                        <a:srgbClr val="C9D3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15354B"/>
                          </a:solidFill>
                          <a:latin typeface="Arial"/>
                        </a:rPr>
                        <a:t>non-extreme</a:t>
                      </a:r>
                    </a:p>
                  </a:txBody>
                  <a:tcPr marL="50800" marR="50800" marT="19050" marB="19050" anchor="ctr">
                    <a:lnL w="9525" cmpd="sng">
                      <a:solidFill>
                        <a:srgbClr val="C9D3DB"/>
                      </a:solidFill>
                    </a:lnL>
                    <a:lnR w="9525" cmpd="sng">
                      <a:solidFill>
                        <a:srgbClr val="C9D3DB"/>
                      </a:solidFill>
                    </a:lnR>
                    <a:lnT w="9525" cmpd="sng">
                      <a:solidFill>
                        <a:srgbClr val="C9D3DB"/>
                      </a:solidFill>
                    </a:lnT>
                    <a:lnB w="9525" cmpd="sng">
                      <a:solidFill>
                        <a:srgbClr val="C9D3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15354B"/>
                          </a:solidFill>
                          <a:latin typeface="Arial"/>
                        </a:rPr>
                        <a:t>0.140 ms</a:t>
                      </a:r>
                    </a:p>
                  </a:txBody>
                  <a:tcPr marL="50800" marR="50800" marT="19050" marB="19050" anchor="ctr">
                    <a:lnL w="9525" cmpd="sng">
                      <a:solidFill>
                        <a:srgbClr val="C9D3DB"/>
                      </a:solidFill>
                    </a:lnL>
                    <a:lnR w="9525" cmpd="sng">
                      <a:solidFill>
                        <a:srgbClr val="C9D3DB"/>
                      </a:solidFill>
                    </a:lnR>
                    <a:lnT w="9525" cmpd="sng">
                      <a:solidFill>
                        <a:srgbClr val="C9D3DB"/>
                      </a:solidFill>
                    </a:lnT>
                    <a:lnB w="9525" cmpd="sng">
                      <a:solidFill>
                        <a:srgbClr val="C9D3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5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5354B"/>
                          </a:solidFill>
                          <a:latin typeface="Arial"/>
                        </a:rPr>
                        <a:t>Disaster relief (1,3,1,2)</a:t>
                      </a:r>
                    </a:p>
                  </a:txBody>
                  <a:tcPr marL="50800" marR="50800" marT="19050" marB="19050" anchor="ctr">
                    <a:lnL w="9525" cmpd="sng">
                      <a:solidFill>
                        <a:srgbClr val="C9D3DB"/>
                      </a:solidFill>
                    </a:lnL>
                    <a:lnR w="9525" cmpd="sng">
                      <a:solidFill>
                        <a:srgbClr val="C9D3DB"/>
                      </a:solidFill>
                    </a:lnR>
                    <a:lnT w="9525" cmpd="sng">
                      <a:solidFill>
                        <a:srgbClr val="C9D3DB"/>
                      </a:solidFill>
                    </a:lnT>
                    <a:lnB w="9525" cmpd="sng">
                      <a:solidFill>
                        <a:srgbClr val="C9D3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15354B"/>
                          </a:solidFill>
                          <a:latin typeface="Arial"/>
                        </a:rPr>
                        <a:t>37.52</a:t>
                      </a:r>
                    </a:p>
                  </a:txBody>
                  <a:tcPr marL="50800" marR="50800" marT="19050" marB="19050" anchor="ctr">
                    <a:lnL w="9525" cmpd="sng">
                      <a:solidFill>
                        <a:srgbClr val="C9D3DB"/>
                      </a:solidFill>
                    </a:lnL>
                    <a:lnR w="9525" cmpd="sng">
                      <a:solidFill>
                        <a:srgbClr val="C9D3DB"/>
                      </a:solidFill>
                    </a:lnR>
                    <a:lnT w="9525" cmpd="sng">
                      <a:solidFill>
                        <a:srgbClr val="C9D3DB"/>
                      </a:solidFill>
                    </a:lnT>
                    <a:lnB w="9525" cmpd="sng">
                      <a:solidFill>
                        <a:srgbClr val="C9D3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15354B"/>
                          </a:solidFill>
                          <a:latin typeface="Arial"/>
                        </a:rPr>
                        <a:t>44.27</a:t>
                      </a:r>
                    </a:p>
                  </a:txBody>
                  <a:tcPr marL="50800" marR="50800" marT="19050" marB="19050" anchor="ctr">
                    <a:lnL w="9525" cmpd="sng">
                      <a:solidFill>
                        <a:srgbClr val="C9D3DB"/>
                      </a:solidFill>
                    </a:lnL>
                    <a:lnR w="9525" cmpd="sng">
                      <a:solidFill>
                        <a:srgbClr val="C9D3DB"/>
                      </a:solidFill>
                    </a:lnR>
                    <a:lnT w="9525" cmpd="sng">
                      <a:solidFill>
                        <a:srgbClr val="C9D3DB"/>
                      </a:solidFill>
                    </a:lnT>
                    <a:lnB w="9525" cmpd="sng">
                      <a:solidFill>
                        <a:srgbClr val="C9D3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15354B"/>
                          </a:solidFill>
                          <a:latin typeface="Arial"/>
                        </a:rPr>
                        <a:t>5.63</a:t>
                      </a:r>
                    </a:p>
                  </a:txBody>
                  <a:tcPr marL="50800" marR="50800" marT="19050" marB="19050" anchor="ctr">
                    <a:lnL w="9525" cmpd="sng">
                      <a:solidFill>
                        <a:srgbClr val="C9D3DB"/>
                      </a:solidFill>
                    </a:lnL>
                    <a:lnR w="9525" cmpd="sng">
                      <a:solidFill>
                        <a:srgbClr val="C9D3DB"/>
                      </a:solidFill>
                    </a:lnR>
                    <a:lnT w="9525" cmpd="sng">
                      <a:solidFill>
                        <a:srgbClr val="C9D3DB"/>
                      </a:solidFill>
                    </a:lnT>
                    <a:lnB w="9525" cmpd="sng">
                      <a:solidFill>
                        <a:srgbClr val="C9D3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15354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50800" marR="50800" marT="19050" marB="19050" anchor="ctr">
                    <a:lnL w="9525" cmpd="sng">
                      <a:solidFill>
                        <a:srgbClr val="C9D3DB"/>
                      </a:solidFill>
                    </a:lnL>
                    <a:lnR w="9525" cmpd="sng">
                      <a:solidFill>
                        <a:srgbClr val="C9D3DB"/>
                      </a:solidFill>
                    </a:lnR>
                    <a:lnT w="9525" cmpd="sng">
                      <a:solidFill>
                        <a:srgbClr val="C9D3DB"/>
                      </a:solidFill>
                    </a:lnT>
                    <a:lnB w="9525" cmpd="sng">
                      <a:solidFill>
                        <a:srgbClr val="C9D3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15354B"/>
                          </a:solidFill>
                          <a:latin typeface="Arial"/>
                        </a:rPr>
                        <a:t>min-energy</a:t>
                      </a:r>
                    </a:p>
                  </a:txBody>
                  <a:tcPr marL="50800" marR="50800" marT="19050" marB="19050" anchor="ctr">
                    <a:lnL w="9525" cmpd="sng">
                      <a:solidFill>
                        <a:srgbClr val="C9D3DB"/>
                      </a:solidFill>
                    </a:lnL>
                    <a:lnR w="9525" cmpd="sng">
                      <a:solidFill>
                        <a:srgbClr val="C9D3DB"/>
                      </a:solidFill>
                    </a:lnR>
                    <a:lnT w="9525" cmpd="sng">
                      <a:solidFill>
                        <a:srgbClr val="C9D3DB"/>
                      </a:solidFill>
                    </a:lnT>
                    <a:lnB w="9525" cmpd="sng">
                      <a:solidFill>
                        <a:srgbClr val="C9D3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15354B"/>
                          </a:solidFill>
                          <a:latin typeface="Arial"/>
                        </a:rPr>
                        <a:t>0.136 ms</a:t>
                      </a:r>
                    </a:p>
                  </a:txBody>
                  <a:tcPr marL="50800" marR="50800" marT="19050" marB="19050" anchor="ctr">
                    <a:lnL w="9525" cmpd="sng">
                      <a:solidFill>
                        <a:srgbClr val="C9D3DB"/>
                      </a:solidFill>
                    </a:lnL>
                    <a:lnR w="9525" cmpd="sng">
                      <a:solidFill>
                        <a:srgbClr val="C9D3DB"/>
                      </a:solidFill>
                    </a:lnR>
                    <a:lnT w="9525" cmpd="sng">
                      <a:solidFill>
                        <a:srgbClr val="C9D3DB"/>
                      </a:solidFill>
                    </a:lnT>
                    <a:lnB w="9525" cmpd="sng">
                      <a:solidFill>
                        <a:srgbClr val="C9D3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5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15354B"/>
                          </a:solidFill>
                          <a:latin typeface="Arial"/>
                        </a:rPr>
                        <a:t>Mixed cargo (3,2,2,3)</a:t>
                      </a:r>
                    </a:p>
                  </a:txBody>
                  <a:tcPr marL="50800" marR="50800" marT="19050" marB="19050" anchor="ctr">
                    <a:lnL w="9525" cmpd="sng">
                      <a:solidFill>
                        <a:srgbClr val="C9D3DB"/>
                      </a:solidFill>
                    </a:lnL>
                    <a:lnR w="9525" cmpd="sng">
                      <a:solidFill>
                        <a:srgbClr val="C9D3DB"/>
                      </a:solidFill>
                    </a:lnR>
                    <a:lnT w="9525" cmpd="sng">
                      <a:solidFill>
                        <a:srgbClr val="C9D3DB"/>
                      </a:solidFill>
                    </a:lnT>
                    <a:lnB w="9525" cmpd="sng">
                      <a:solidFill>
                        <a:srgbClr val="C9D3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15354B"/>
                          </a:solidFill>
                          <a:latin typeface="Arial"/>
                        </a:rPr>
                        <a:t>39.90</a:t>
                      </a:r>
                    </a:p>
                  </a:txBody>
                  <a:tcPr marL="50800" marR="50800" marT="19050" marB="19050" anchor="ctr">
                    <a:lnL w="9525" cmpd="sng">
                      <a:solidFill>
                        <a:srgbClr val="C9D3DB"/>
                      </a:solidFill>
                    </a:lnL>
                    <a:lnR w="9525" cmpd="sng">
                      <a:solidFill>
                        <a:srgbClr val="C9D3DB"/>
                      </a:solidFill>
                    </a:lnR>
                    <a:lnT w="9525" cmpd="sng">
                      <a:solidFill>
                        <a:srgbClr val="C9D3DB"/>
                      </a:solidFill>
                    </a:lnT>
                    <a:lnB w="9525" cmpd="sng">
                      <a:solidFill>
                        <a:srgbClr val="C9D3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15354B"/>
                          </a:solidFill>
                          <a:latin typeface="Arial"/>
                        </a:rPr>
                        <a:t>45.06</a:t>
                      </a:r>
                    </a:p>
                  </a:txBody>
                  <a:tcPr marL="50800" marR="50800" marT="19050" marB="19050" anchor="ctr">
                    <a:lnL w="9525" cmpd="sng">
                      <a:solidFill>
                        <a:srgbClr val="C9D3DB"/>
                      </a:solidFill>
                    </a:lnL>
                    <a:lnR w="9525" cmpd="sng">
                      <a:solidFill>
                        <a:srgbClr val="C9D3DB"/>
                      </a:solidFill>
                    </a:lnR>
                    <a:lnT w="9525" cmpd="sng">
                      <a:solidFill>
                        <a:srgbClr val="C9D3DB"/>
                      </a:solidFill>
                    </a:lnT>
                    <a:lnB w="9525" cmpd="sng">
                      <a:solidFill>
                        <a:srgbClr val="C9D3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15354B"/>
                          </a:solidFill>
                          <a:latin typeface="Arial"/>
                        </a:rPr>
                        <a:t>2.74</a:t>
                      </a:r>
                    </a:p>
                  </a:txBody>
                  <a:tcPr marL="50800" marR="50800" marT="19050" marB="19050" anchor="ctr">
                    <a:lnL w="9525" cmpd="sng">
                      <a:solidFill>
                        <a:srgbClr val="C9D3DB"/>
                      </a:solidFill>
                    </a:lnL>
                    <a:lnR w="9525" cmpd="sng">
                      <a:solidFill>
                        <a:srgbClr val="C9D3DB"/>
                      </a:solidFill>
                    </a:lnR>
                    <a:lnT w="9525" cmpd="sng">
                      <a:solidFill>
                        <a:srgbClr val="C9D3DB"/>
                      </a:solidFill>
                    </a:lnT>
                    <a:lnB w="9525" cmpd="sng">
                      <a:solidFill>
                        <a:srgbClr val="C9D3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15354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50800" marR="50800" marT="19050" marB="19050" anchor="ctr">
                    <a:lnL w="9525" cmpd="sng">
                      <a:solidFill>
                        <a:srgbClr val="C9D3DB"/>
                      </a:solidFill>
                    </a:lnL>
                    <a:lnR w="9525" cmpd="sng">
                      <a:solidFill>
                        <a:srgbClr val="C9D3DB"/>
                      </a:solidFill>
                    </a:lnR>
                    <a:lnT w="9525" cmpd="sng">
                      <a:solidFill>
                        <a:srgbClr val="C9D3DB"/>
                      </a:solidFill>
                    </a:lnT>
                    <a:lnB w="9525" cmpd="sng">
                      <a:solidFill>
                        <a:srgbClr val="C9D3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15354B"/>
                          </a:solidFill>
                          <a:latin typeface="Arial"/>
                        </a:rPr>
                        <a:t>non-extreme</a:t>
                      </a:r>
                    </a:p>
                  </a:txBody>
                  <a:tcPr marL="50800" marR="50800" marT="19050" marB="19050" anchor="ctr">
                    <a:lnL w="9525" cmpd="sng">
                      <a:solidFill>
                        <a:srgbClr val="C9D3DB"/>
                      </a:solidFill>
                    </a:lnL>
                    <a:lnR w="9525" cmpd="sng">
                      <a:solidFill>
                        <a:srgbClr val="C9D3DB"/>
                      </a:solidFill>
                    </a:lnR>
                    <a:lnT w="9525" cmpd="sng">
                      <a:solidFill>
                        <a:srgbClr val="C9D3DB"/>
                      </a:solidFill>
                    </a:lnT>
                    <a:lnB w="9525" cmpd="sng">
                      <a:solidFill>
                        <a:srgbClr val="C9D3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15354B"/>
                          </a:solidFill>
                          <a:latin typeface="Arial"/>
                        </a:rPr>
                        <a:t>0.136 ms</a:t>
                      </a:r>
                    </a:p>
                  </a:txBody>
                  <a:tcPr marL="50800" marR="50800" marT="19050" marB="19050" anchor="ctr">
                    <a:lnL w="9525" cmpd="sng">
                      <a:solidFill>
                        <a:srgbClr val="C9D3DB"/>
                      </a:solidFill>
                    </a:lnL>
                    <a:lnR w="9525" cmpd="sng">
                      <a:solidFill>
                        <a:srgbClr val="C9D3DB"/>
                      </a:solidFill>
                    </a:lnR>
                    <a:lnT w="9525" cmpd="sng">
                      <a:solidFill>
                        <a:srgbClr val="C9D3DB"/>
                      </a:solidFill>
                    </a:lnT>
                    <a:lnB w="9525" cmpd="sng">
                      <a:solidFill>
                        <a:srgbClr val="C9D3D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3" name="Tier 2 Explanation"/>
          <p:cNvSpPr txBox="1"/>
          <p:nvPr/>
        </p:nvSpPr>
        <p:spPr>
          <a:xfrm>
            <a:off x="20167687" y="10008167"/>
            <a:ext cx="9421677" cy="6054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00"/>
              </a:lnSpc>
            </a:pPr>
            <a:r>
              <a:rPr sz="1550" b="0">
                <a:solidFill>
                  <a:srgbClr val="15354B"/>
                </a:solidFill>
                <a:latin typeface="Arial"/>
              </a:rPr>
              <a:t>Four presets get four different routes, three non-extreme. Fragile medical flies 10.5% further than emergency medicine for 71% less risk; disaster relief takes the min-energy route.</a:t>
            </a:r>
          </a:p>
        </p:txBody>
      </p:sp>
      <p:sp>
        <p:nvSpPr>
          <p:cNvPr id="54" name="Wind Sweep Title"/>
          <p:cNvSpPr txBox="1"/>
          <p:nvPr/>
        </p:nvSpPr>
        <p:spPr>
          <a:xfrm>
            <a:off x="20167687" y="10764928"/>
            <a:ext cx="9421677" cy="3405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87F8C"/>
                </a:solidFill>
                <a:latin typeface="Arial"/>
              </a:rPr>
              <a:t>Wind direction sweep on S2 (25 km/h, gust 35; dashed = calm air)</a:t>
            </a:r>
          </a:p>
        </p:txBody>
      </p:sp>
      <p:pic>
        <p:nvPicPr>
          <p:cNvPr id="55" name="Wind Direction Sweep" descr="8db7302d-wind_direction_swee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29849" y="11124390"/>
            <a:ext cx="9421677" cy="2609079"/>
          </a:xfrm>
          <a:prstGeom prst="rect">
            <a:avLst/>
          </a:prstGeom>
        </p:spPr>
      </p:pic>
      <p:sp>
        <p:nvSpPr>
          <p:cNvPr id="56" name="Wind Sweep Explanation"/>
          <p:cNvSpPr txBox="1"/>
          <p:nvPr/>
        </p:nvSpPr>
        <p:spPr>
          <a:xfrm>
            <a:off x="20167687" y="13790227"/>
            <a:ext cx="9421677" cy="9081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00"/>
              </a:lnSpc>
            </a:pPr>
            <a:r>
              <a:rPr sz="1550" b="0">
                <a:solidFill>
                  <a:srgbClr val="15354B"/>
                </a:solidFill>
                <a:latin typeface="Arial"/>
              </a:rPr>
              <a:t>Panels: front size, minimum energy and minimum cumulative risk as the wind turns 360°. Direction alone moves the cheapest route's energy by 27.5%; opposite winds give equal risk (same crosswind) but different energy (headwind vs tailwind), and the front shrinks from 36 routes in calm air to 6–15.</a:t>
            </a:r>
          </a:p>
        </p:txBody>
      </p:sp>
      <p:sp>
        <p:nvSpPr>
          <p:cNvPr id="57" name="SITL Title"/>
          <p:cNvSpPr txBox="1"/>
          <p:nvPr/>
        </p:nvSpPr>
        <p:spPr>
          <a:xfrm>
            <a:off x="20167687" y="14774017"/>
            <a:ext cx="9421677" cy="3405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87F8C"/>
                </a:solidFill>
                <a:latin typeface="Arial"/>
              </a:rPr>
              <a:t>Tier 2 mission flown in Gazebo + ArduPilot SITL</a:t>
            </a:r>
          </a:p>
        </p:txBody>
      </p:sp>
      <p:pic>
        <p:nvPicPr>
          <p:cNvPr id="58" name="SITL Gazebo Screenshot" descr="e0d7329c-sitl_gazebo_screenshot.jpg"/>
          <p:cNvPicPr>
            <a:picLocks noChangeAspect="1"/>
          </p:cNvPicPr>
          <p:nvPr/>
        </p:nvPicPr>
        <p:blipFill>
          <a:blip r:embed="rId6"/>
          <a:srcRect b="5778"/>
          <a:stretch>
            <a:fillRect/>
          </a:stretch>
        </p:blipFill>
        <p:spPr>
          <a:xfrm>
            <a:off x="20129849" y="15152397"/>
            <a:ext cx="4729757" cy="2506771"/>
          </a:xfrm>
          <a:prstGeom prst="rect">
            <a:avLst/>
          </a:prstGeom>
          <a:ln w="12700">
            <a:solidFill>
              <a:srgbClr val="D5DEE5"/>
            </a:solidFill>
          </a:ln>
        </p:spPr>
      </p:pic>
      <p:sp>
        <p:nvSpPr>
          <p:cNvPr id="59" name="SITL Explanation"/>
          <p:cNvSpPr txBox="1"/>
          <p:nvPr/>
        </p:nvSpPr>
        <p:spPr>
          <a:xfrm>
            <a:off x="25029878" y="15133478"/>
            <a:ext cx="4521648" cy="25824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00"/>
              </a:lnSpc>
            </a:pPr>
            <a:r>
              <a:rPr sz="1550" b="0">
                <a:solidFill>
                  <a:srgbClr val="15354B"/>
                </a:solidFill>
                <a:latin typeface="Arial"/>
              </a:rPr>
              <a:t>Gazebo city world from OSM buildings (left), MAVProxy console reaching each waypoint and the QGroundControl mission view (right).</a:t>
            </a:r>
          </a:p>
          <a:p>
            <a:pPr algn="l">
              <a:lnSpc>
                <a:spcPts val="1900"/>
              </a:lnSpc>
              <a:spcBef>
                <a:spcPts val="300"/>
              </a:spcBef>
            </a:pPr>
            <a:r>
              <a:rPr sz="1550" b="0">
                <a:solidFill>
                  <a:srgbClr val="15354B"/>
                </a:solidFill>
                <a:latin typeface="Arial"/>
              </a:rPr>
              <a:t>Upload, read-back, AUTO, landing and disarm all succeeded: </a:t>
            </a:r>
            <a:r>
              <a:rPr sz="1550" b="1">
                <a:solidFill>
                  <a:srgbClr val="15354B"/>
                </a:solidFill>
                <a:latin typeface="Arial"/>
              </a:rPr>
              <a:t>cross-track RMS 0.11–0.13 m, landing offset 0.01–0.02 m.</a:t>
            </a:r>
          </a:p>
        </p:txBody>
      </p:sp>
      <p:sp>
        <p:nvSpPr>
          <p:cNvPr id="60" name="Conclusion Text"/>
          <p:cNvSpPr txBox="1"/>
          <p:nvPr/>
        </p:nvSpPr>
        <p:spPr>
          <a:xfrm>
            <a:off x="20092011" y="18586201"/>
            <a:ext cx="9535191" cy="256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800" b="1">
                <a:solidFill>
                  <a:srgbClr val="087F8C"/>
                </a:solidFill>
                <a:latin typeface="Arial"/>
              </a:rPr>
              <a:t>Conclusion: </a:t>
            </a:r>
            <a:r>
              <a:rPr sz="1800" b="0">
                <a:solidFill>
                  <a:srgbClr val="15354B"/>
                </a:solidFill>
                <a:latin typeface="Arial"/>
              </a:rPr>
              <a:t>Tier 1 gives an exact front (IGD 0) once per region and weather window; Tier 2 turns payload tags into distinct, payload-appropriate routes in ~0.14 ms, and those routes fly in SITL within 0.13 m of the plan. Wind direction must be modelled per edge.</a:t>
            </a:r>
          </a:p>
          <a:p>
            <a:pPr algn="l">
              <a:lnSpc>
                <a:spcPts val="2250"/>
              </a:lnSpc>
              <a:spcBef>
                <a:spcPts val="500"/>
              </a:spcBef>
            </a:pPr>
            <a:r>
              <a:rPr sz="1800" b="1">
                <a:solidFill>
                  <a:srgbClr val="087F8C"/>
                </a:solidFill>
                <a:latin typeface="Arial"/>
              </a:rPr>
              <a:t>Contribution: </a:t>
            </a:r>
            <a:r>
              <a:rPr sz="1800" b="0">
                <a:solidFill>
                  <a:srgbClr val="15354B"/>
                </a:solidFill>
                <a:latin typeface="Arial"/>
              </a:rPr>
              <a:t>an explicit formula from payload tags to Pareto selection weights over a reusable exact front: no expert re-tuning and no re-search per mission.</a:t>
            </a:r>
          </a:p>
          <a:p>
            <a:pPr algn="l">
              <a:lnSpc>
                <a:spcPts val="2250"/>
              </a:lnSpc>
              <a:spcBef>
                <a:spcPts val="500"/>
              </a:spcBef>
            </a:pPr>
            <a:r>
              <a:rPr sz="1800" b="1">
                <a:solidFill>
                  <a:srgbClr val="087F8C"/>
                </a:solidFill>
                <a:latin typeface="Arial"/>
              </a:rPr>
              <a:t>Future work: </a:t>
            </a:r>
            <a:r>
              <a:rPr sz="1800" b="0">
                <a:solidFill>
                  <a:srgbClr val="15354B"/>
                </a:solidFill>
                <a:latin typeface="Arial"/>
              </a:rPr>
              <a:t>full MOPSO benchmark (100 × 200 × 30 runs, significance tests), wind in Gazebo and battery calibration; Phase II on a Pixhawk F450 with Raspberry Pi 5 running Tier 2 on board.</a:t>
            </a:r>
          </a:p>
        </p:txBody>
      </p:sp>
    </p:spTree>
    <p:extLst>
      <p:ext uri="{BB962C8B-B14F-4D97-AF65-F5344CB8AC3E}">
        <p14:creationId xmlns:p14="http://schemas.microsoft.com/office/powerpoint/2010/main" val="14565421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242</Words>
  <Application>Microsoft Office PowerPoint</Application>
  <DocSecurity>0</DocSecurity>
  <PresentationFormat>Custom</PresentationFormat>
  <Paragraphs>46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Aptos</vt:lpstr>
      <vt:lpstr>Arial</vt:lpstr>
      <vt:lpstr>ChatGPT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Suresh Jaganathan</cp:lastModifiedBy>
  <cp:revision>1</cp:revision>
  <dcterms:created xsi:type="dcterms:W3CDTF">2026-10-10T11:20:33Z</dcterms:created>
  <dcterms:modified xsi:type="dcterms:W3CDTF">2026-10-10T11:50:25Z</dcterms:modified>
</cp:coreProperties>
</file>