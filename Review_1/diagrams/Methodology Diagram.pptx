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UMURUGAN RA" userId="09708c05-04d7-495c-854c-9521936c9cc8" providerId="ADAL" clId="{54A0BF74-E882-4F62-98F9-DB580C3ADD75}"/>
    <pc:docChg chg="undo custSel modSld">
      <pc:chgData name="THIRUMURUGAN RA" userId="09708c05-04d7-495c-854c-9521936c9cc8" providerId="ADAL" clId="{54A0BF74-E882-4F62-98F9-DB580C3ADD75}" dt="2026-08-30T06:35:08.111" v="4" actId="20577"/>
      <pc:docMkLst>
        <pc:docMk/>
      </pc:docMkLst>
      <pc:sldChg chg="modSp mod">
        <pc:chgData name="THIRUMURUGAN RA" userId="09708c05-04d7-495c-854c-9521936c9cc8" providerId="ADAL" clId="{54A0BF74-E882-4F62-98F9-DB580C3ADD75}" dt="2026-08-30T06:35:08.111" v="4" actId="20577"/>
        <pc:sldMkLst>
          <pc:docMk/>
          <pc:sldMk cId="0" sldId="256"/>
        </pc:sldMkLst>
        <pc:spChg chg="mod">
          <ac:chgData name="THIRUMURUGAN RA" userId="09708c05-04d7-495c-854c-9521936c9cc8" providerId="ADAL" clId="{54A0BF74-E882-4F62-98F9-DB580C3ADD75}" dt="2026-08-30T06:35:08.111" v="4" actId="20577"/>
          <ac:spMkLst>
            <pc:docMk/>
            <pc:sldMk cId="0" sldId="256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24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4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Payload-Aware Two-Tier UAV Route Planning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—  Deterministic Pareto Front Construction with Payload-Driven Route Selection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554480" cy="4233672"/>
          </a:xfrm>
          <a:prstGeom prst="roundRect">
            <a:avLst>
              <a:gd name="adj" fmla="val 4706"/>
            </a:avLst>
          </a:prstGeom>
          <a:solidFill>
            <a:srgbClr val="E9F4EB"/>
          </a:solidFill>
          <a:ln w="15875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8412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INPUTS &amp; DATA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8328" y="1499616"/>
            <a:ext cx="1426464" cy="1463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2E6F40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20624" y="1578254"/>
            <a:ext cx="1261872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Graph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(osmnx) — road/path network converted into the delivery-region airspace graph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" y="3108960"/>
            <a:ext cx="1426464" cy="1783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2E6F40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20624" y="3214116"/>
            <a:ext cx="1261872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Metadata Tags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1–5 · Weight 1–3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1–3 · Priority 1–5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38528" y="84124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938528" y="841248"/>
            <a:ext cx="32461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011680" y="841248"/>
            <a:ext cx="2679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TIER 1 — PARETO FRONT CONSTRUCTION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periodically per region — not rebuilt per mission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020824" y="1499616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7F8FE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103120" y="1536192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Edge Cost Assignment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gets a 3-objective cost vector: distance (km) · energy (battery %) · flight risk (%)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020824" y="2393442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7F8FE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2103120" y="2430018"/>
            <a:ext cx="168249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Multi-Objective A* / Dijkstra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Vector-cost graph search over the airspace graph — deterministic, reproducible front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020824" y="3287268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7F8FE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2103120" y="3323844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Pareto Dominance Pruning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any route dominated on all three objectives simultaneously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020824" y="4181094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E9ECFB"/>
          </a:solidFill>
          <a:ln w="952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2103120" y="4217670"/>
            <a:ext cx="1554480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Pareto Front Storage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set of non-dominated routes — reused across missions within the refresh window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294376" y="841248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5400">
            <a:solidFill>
              <a:srgbClr val="0B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5294376" y="841248"/>
            <a:ext cx="3246120" cy="585216"/>
          </a:xfrm>
          <a:prstGeom prst="roundRect">
            <a:avLst>
              <a:gd name="adj" fmla="val 9375"/>
            </a:avLst>
          </a:prstGeom>
          <a:solidFill>
            <a:srgbClr val="0B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367528" y="841248"/>
            <a:ext cx="2679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TIER 2 — PAYLOAD-DRIVEN SELECTION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 mission — near-instantaneous rule lookup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376672" y="1499616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5458968" y="1536192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Payload Metadata Interpreter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Fragility (F), Weight (W), Urgency (U), Priority (P) tags from operator input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376672" y="2393442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5458968" y="2430018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Weight Derivation Formula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w_risk = F·2/Σ   w_dist = U·3/Σ   w_energy = W·2/Σ  — algebraic bridge to Tier 1 objectives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376672" y="3287268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5458968" y="3323844"/>
            <a:ext cx="172821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Normalisation + Utility Scoring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score(pᵢ) = Σ wₖ·(1−ōbjₖ) computed for EVERY stored Pareto point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376672" y="4181094"/>
            <a:ext cx="3081528" cy="820674"/>
          </a:xfrm>
          <a:prstGeom prst="roundRect">
            <a:avLst>
              <a:gd name="adj" fmla="val 5571"/>
            </a:avLst>
          </a:prstGeom>
          <a:solidFill>
            <a:srgbClr val="F6FBFB"/>
          </a:solidFill>
          <a:ln w="9525">
            <a:solidFill>
              <a:srgbClr val="0B6E7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5458968" y="4217670"/>
            <a:ext cx="2916936" cy="7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argmax Route Selection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non-extreme points for mixed payloads; priority ≥ 4 amplifies the dominant weight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650224" y="841248"/>
            <a:ext cx="1572768" cy="1965960"/>
          </a:xfrm>
          <a:prstGeom prst="roundRect">
            <a:avLst>
              <a:gd name="adj" fmla="val 4651"/>
            </a:avLst>
          </a:prstGeom>
          <a:solidFill>
            <a:srgbClr val="FBEBDD"/>
          </a:solidFill>
          <a:ln w="15875">
            <a:solidFill>
              <a:srgbClr val="C864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8650224" y="841248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C86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8723376" y="84124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MISSION OUTPUT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8714232" y="1298448"/>
            <a:ext cx="1444752" cy="681228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9525">
            <a:solidFill>
              <a:srgbClr val="C8641E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8796528" y="1335024"/>
            <a:ext cx="12801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File Generation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 err="1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ArduPilot</a:t>
            </a: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-compatible .waypoints file from the selected route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8714232" y="2052828"/>
            <a:ext cx="1444752" cy="681228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9525">
            <a:solidFill>
              <a:srgbClr val="C8641E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37"/>
          <p:cNvSpPr/>
          <p:nvPr/>
        </p:nvSpPr>
        <p:spPr>
          <a:xfrm>
            <a:off x="8796528" y="2089404"/>
            <a:ext cx="12801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Ground-Station Dashboard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enters payload tag once — no manual re-tuning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8650224" y="2944368"/>
            <a:ext cx="1572768" cy="2130552"/>
          </a:xfrm>
          <a:prstGeom prst="roundRect">
            <a:avLst>
              <a:gd name="adj" fmla="val 4651"/>
            </a:avLst>
          </a:prstGeom>
          <a:solidFill>
            <a:srgbClr val="EFE9FA"/>
          </a:solidFill>
          <a:ln w="15875">
            <a:solidFill>
              <a:srgbClr val="5B3A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9"/>
          <p:cNvSpPr/>
          <p:nvPr/>
        </p:nvSpPr>
        <p:spPr>
          <a:xfrm>
            <a:off x="8650224" y="2944368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5B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8723375" y="2944368"/>
            <a:ext cx="1365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UAV CONTROL ↻</a:t>
            </a:r>
            <a:endParaRPr lang="en-US" sz="1250" dirty="0"/>
          </a:p>
        </p:txBody>
      </p:sp>
      <p:sp>
        <p:nvSpPr>
          <p:cNvPr id="48" name="Shape 41"/>
          <p:cNvSpPr/>
          <p:nvPr/>
        </p:nvSpPr>
        <p:spPr>
          <a:xfrm>
            <a:off x="8714232" y="3401568"/>
            <a:ext cx="1444752" cy="763524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9525">
            <a:solidFill>
              <a:srgbClr val="5B3A9B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2"/>
          <p:cNvSpPr/>
          <p:nvPr/>
        </p:nvSpPr>
        <p:spPr>
          <a:xfrm>
            <a:off x="8796528" y="3438144"/>
            <a:ext cx="12801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Upload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file transmitted to the onboard Pixhawk flight controller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714232" y="4238244"/>
            <a:ext cx="1444752" cy="763524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9525">
            <a:solidFill>
              <a:srgbClr val="5B3A9B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4"/>
          <p:cNvSpPr/>
          <p:nvPr/>
        </p:nvSpPr>
        <p:spPr>
          <a:xfrm>
            <a:off x="8796528" y="4274820"/>
            <a:ext cx="12801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SITL → Real Flight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70" dirty="0" err="1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ArduPilot</a:t>
            </a:r>
            <a:r>
              <a:rPr lang="en-US" sz="77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SITL validates first; outdoor flight confirms. Route adherence &amp; latency feedback ↻ informs the next refresh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10332720" y="841248"/>
            <a:ext cx="1581912" cy="4233672"/>
          </a:xfrm>
          <a:prstGeom prst="roundRect">
            <a:avLst>
              <a:gd name="adj" fmla="val 4624"/>
            </a:avLst>
          </a:prstGeom>
          <a:solidFill>
            <a:srgbClr val="E9F4EB"/>
          </a:solidFill>
          <a:ln w="15875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6"/>
          <p:cNvSpPr/>
          <p:nvPr/>
        </p:nvSpPr>
        <p:spPr>
          <a:xfrm>
            <a:off x="10332720" y="841248"/>
            <a:ext cx="1581912" cy="384048"/>
          </a:xfrm>
          <a:prstGeom prst="roundRect">
            <a:avLst>
              <a:gd name="adj" fmla="val 14286"/>
            </a:avLst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7"/>
          <p:cNvSpPr/>
          <p:nvPr/>
        </p:nvSpPr>
        <p:spPr>
          <a:xfrm>
            <a:off x="10405872" y="8412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OUTPUTS</a:t>
            </a:r>
            <a:endParaRPr lang="en-US" sz="1250" dirty="0"/>
          </a:p>
        </p:txBody>
      </p:sp>
      <p:sp>
        <p:nvSpPr>
          <p:cNvPr id="56" name="Shape 48"/>
          <p:cNvSpPr/>
          <p:nvPr/>
        </p:nvSpPr>
        <p:spPr>
          <a:xfrm>
            <a:off x="10396728" y="1298448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49"/>
          <p:cNvSpPr/>
          <p:nvPr/>
        </p:nvSpPr>
        <p:spPr>
          <a:xfrm>
            <a:off x="10479024" y="1578254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0"/>
          <p:cNvSpPr/>
          <p:nvPr/>
        </p:nvSpPr>
        <p:spPr>
          <a:xfrm>
            <a:off x="10689336" y="1298448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Payload-Matched Optimal Route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10396728" y="2050085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2"/>
          <p:cNvSpPr/>
          <p:nvPr/>
        </p:nvSpPr>
        <p:spPr>
          <a:xfrm>
            <a:off x="10479024" y="2329891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3"/>
          <p:cNvSpPr/>
          <p:nvPr/>
        </p:nvSpPr>
        <p:spPr>
          <a:xfrm>
            <a:off x="10689336" y="2050085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Ready-to-Fly Mission File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10396728" y="2801722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55"/>
          <p:cNvSpPr/>
          <p:nvPr/>
        </p:nvSpPr>
        <p:spPr>
          <a:xfrm>
            <a:off x="10479024" y="3081528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56"/>
          <p:cNvSpPr/>
          <p:nvPr/>
        </p:nvSpPr>
        <p:spPr>
          <a:xfrm>
            <a:off x="10689336" y="2801722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Pareto Front — no per-mission re-planning</a:t>
            </a:r>
            <a:endParaRPr lang="en-US" sz="950" dirty="0"/>
          </a:p>
        </p:txBody>
      </p:sp>
      <p:sp>
        <p:nvSpPr>
          <p:cNvPr id="65" name="Shape 57"/>
          <p:cNvSpPr/>
          <p:nvPr/>
        </p:nvSpPr>
        <p:spPr>
          <a:xfrm>
            <a:off x="10396728" y="3553358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58"/>
          <p:cNvSpPr/>
          <p:nvPr/>
        </p:nvSpPr>
        <p:spPr>
          <a:xfrm>
            <a:off x="10479024" y="3833165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59"/>
          <p:cNvSpPr/>
          <p:nvPr/>
        </p:nvSpPr>
        <p:spPr>
          <a:xfrm>
            <a:off x="10689336" y="3553358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Non-Extreme Selection for Mixed Payloads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10396728" y="4304995"/>
            <a:ext cx="1453896" cy="696773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 w="12700">
            <a:solidFill>
              <a:srgbClr val="2E6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1"/>
          <p:cNvSpPr/>
          <p:nvPr/>
        </p:nvSpPr>
        <p:spPr>
          <a:xfrm>
            <a:off x="10479024" y="4584802"/>
            <a:ext cx="137160" cy="137160"/>
          </a:xfrm>
          <a:prstGeom prst="ellipse">
            <a:avLst/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2"/>
          <p:cNvSpPr/>
          <p:nvPr/>
        </p:nvSpPr>
        <p:spPr>
          <a:xfrm>
            <a:off x="10689336" y="4304995"/>
            <a:ext cx="1069848" cy="69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SITL + Flight-Validated Pipeline</a:t>
            </a:r>
            <a:endParaRPr lang="en-US" sz="950" dirty="0"/>
          </a:p>
        </p:txBody>
      </p:sp>
      <p:sp>
        <p:nvSpPr>
          <p:cNvPr id="71" name="Shape 63"/>
          <p:cNvSpPr/>
          <p:nvPr/>
        </p:nvSpPr>
        <p:spPr>
          <a:xfrm>
            <a:off x="1828800" y="2958084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4"/>
          <p:cNvSpPr/>
          <p:nvPr/>
        </p:nvSpPr>
        <p:spPr>
          <a:xfrm>
            <a:off x="5184648" y="2958084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65"/>
          <p:cNvSpPr/>
          <p:nvPr/>
        </p:nvSpPr>
        <p:spPr>
          <a:xfrm>
            <a:off x="8540496" y="1824228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66"/>
          <p:cNvSpPr/>
          <p:nvPr/>
        </p:nvSpPr>
        <p:spPr>
          <a:xfrm>
            <a:off x="9436608" y="2807208"/>
            <a:ext cx="0" cy="13716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67"/>
          <p:cNvSpPr/>
          <p:nvPr/>
        </p:nvSpPr>
        <p:spPr>
          <a:xfrm>
            <a:off x="10222992" y="4009644"/>
            <a:ext cx="10972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68"/>
          <p:cNvSpPr/>
          <p:nvPr/>
        </p:nvSpPr>
        <p:spPr>
          <a:xfrm>
            <a:off x="1051560" y="5074920"/>
            <a:ext cx="0" cy="64008"/>
          </a:xfrm>
          <a:prstGeom prst="line">
            <a:avLst/>
          </a:prstGeom>
          <a:noFill/>
          <a:ln w="15875">
            <a:solidFill>
              <a:srgbClr val="0B6E7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69"/>
          <p:cNvSpPr/>
          <p:nvPr/>
        </p:nvSpPr>
        <p:spPr>
          <a:xfrm>
            <a:off x="1051560" y="5138928"/>
            <a:ext cx="5865876" cy="0"/>
          </a:xfrm>
          <a:prstGeom prst="line">
            <a:avLst/>
          </a:prstGeom>
          <a:noFill/>
          <a:ln w="15875">
            <a:solidFill>
              <a:srgbClr val="0B6E7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0"/>
          <p:cNvSpPr/>
          <p:nvPr/>
        </p:nvSpPr>
        <p:spPr>
          <a:xfrm>
            <a:off x="6917436" y="5074920"/>
            <a:ext cx="0" cy="64008"/>
          </a:xfrm>
          <a:prstGeom prst="line">
            <a:avLst/>
          </a:prstGeom>
          <a:noFill/>
          <a:ln w="15875">
            <a:solidFill>
              <a:srgbClr val="0B6E7A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1"/>
          <p:cNvSpPr/>
          <p:nvPr/>
        </p:nvSpPr>
        <p:spPr>
          <a:xfrm>
            <a:off x="1051560" y="5129784"/>
            <a:ext cx="58658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metadata tags — direct to Tier 2 (bypasses Tier 1)</a:t>
            </a:r>
            <a:endParaRPr lang="en-US" sz="750" dirty="0"/>
          </a:p>
        </p:txBody>
      </p:sp>
      <p:sp>
        <p:nvSpPr>
          <p:cNvPr id="80" name="Shape 72"/>
          <p:cNvSpPr/>
          <p:nvPr/>
        </p:nvSpPr>
        <p:spPr>
          <a:xfrm>
            <a:off x="274320" y="5257800"/>
            <a:ext cx="11640312" cy="1024128"/>
          </a:xfrm>
          <a:prstGeom prst="roundRect">
            <a:avLst>
              <a:gd name="adj" fmla="val 7143"/>
            </a:avLst>
          </a:prstGeom>
          <a:solidFill>
            <a:srgbClr val="FBF0D2"/>
          </a:solidFill>
          <a:ln w="15875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3"/>
          <p:cNvSpPr/>
          <p:nvPr/>
        </p:nvSpPr>
        <p:spPr>
          <a:xfrm>
            <a:off x="274320" y="5257800"/>
            <a:ext cx="11640312" cy="310896"/>
          </a:xfrm>
          <a:prstGeom prst="roundRect">
            <a:avLst>
              <a:gd name="adj" fmla="val 17647"/>
            </a:avLst>
          </a:prstGeom>
          <a:solidFill>
            <a:srgbClr val="9C7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4"/>
          <p:cNvSpPr/>
          <p:nvPr/>
        </p:nvSpPr>
        <p:spPr>
          <a:xfrm>
            <a:off x="347472" y="5257800"/>
            <a:ext cx="11494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PERFORMANCE EVALUATION</a:t>
            </a:r>
            <a:endParaRPr lang="en-US" sz="1250" dirty="0"/>
          </a:p>
        </p:txBody>
      </p:sp>
      <p:sp>
        <p:nvSpPr>
          <p:cNvPr id="83" name="Shape 75"/>
          <p:cNvSpPr/>
          <p:nvPr/>
        </p:nvSpPr>
        <p:spPr>
          <a:xfrm>
            <a:off x="411480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Text 76"/>
          <p:cNvSpPr/>
          <p:nvPr/>
        </p:nvSpPr>
        <p:spPr>
          <a:xfrm>
            <a:off x="493776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Scenarios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50n (5%) · S2 200n (20%) · S3 500n (40%)</a:t>
            </a:r>
            <a:endParaRPr lang="en-US" sz="870" dirty="0"/>
          </a:p>
        </p:txBody>
      </p:sp>
      <p:sp>
        <p:nvSpPr>
          <p:cNvPr id="85" name="Shape 77"/>
          <p:cNvSpPr/>
          <p:nvPr/>
        </p:nvSpPr>
        <p:spPr>
          <a:xfrm>
            <a:off x="2706624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Text 78"/>
          <p:cNvSpPr/>
          <p:nvPr/>
        </p:nvSpPr>
        <p:spPr>
          <a:xfrm>
            <a:off x="2788920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 Quality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Hypervolume (HV) · Pareto Spread / IGD</a:t>
            </a:r>
            <a:endParaRPr lang="en-US" sz="870" dirty="0"/>
          </a:p>
        </p:txBody>
      </p:sp>
      <p:sp>
        <p:nvSpPr>
          <p:cNvPr id="87" name="Shape 79"/>
          <p:cNvSpPr/>
          <p:nvPr/>
        </p:nvSpPr>
        <p:spPr>
          <a:xfrm>
            <a:off x="5001768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Text 80"/>
          <p:cNvSpPr/>
          <p:nvPr/>
        </p:nvSpPr>
        <p:spPr>
          <a:xfrm>
            <a:off x="5084064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Selection Accuracy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of selected route vs. payload tag across mission types</a:t>
            </a:r>
            <a:endParaRPr lang="en-US" sz="870" dirty="0"/>
          </a:p>
        </p:txBody>
      </p:sp>
      <p:sp>
        <p:nvSpPr>
          <p:cNvPr id="89" name="Shape 81"/>
          <p:cNvSpPr/>
          <p:nvPr/>
        </p:nvSpPr>
        <p:spPr>
          <a:xfrm>
            <a:off x="7296912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Text 82"/>
          <p:cNvSpPr/>
          <p:nvPr/>
        </p:nvSpPr>
        <p:spPr>
          <a:xfrm>
            <a:off x="7379208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Time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pre-computation vs. MOPSO runtime</a:t>
            </a:r>
            <a:endParaRPr lang="en-US" sz="870" dirty="0"/>
          </a:p>
        </p:txBody>
      </p:sp>
      <p:sp>
        <p:nvSpPr>
          <p:cNvPr id="91" name="Shape 83"/>
          <p:cNvSpPr/>
          <p:nvPr/>
        </p:nvSpPr>
        <p:spPr>
          <a:xfrm>
            <a:off x="9592056" y="5623560"/>
            <a:ext cx="21854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9C7A0A"/>
            </a:solidFill>
            <a:prstDash val="solid"/>
          </a:ln>
          <a:effectLst>
            <a:outerShdw blurRad="38100" dist="12700" dir="5400000" algn="bl" rotWithShape="0">
              <a:srgbClr val="8A8F98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2" name="Text 84"/>
          <p:cNvSpPr/>
          <p:nvPr/>
        </p:nvSpPr>
        <p:spPr>
          <a:xfrm>
            <a:off x="9674352" y="56601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endParaRPr lang="en-US" sz="8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3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Single-Objective A* · MOPSO (100 particles, 200 iter) — mean ± std over 30 runs</a:t>
            </a:r>
            <a:endParaRPr lang="en-US" sz="870" dirty="0"/>
          </a:p>
        </p:txBody>
      </p:sp>
      <p:sp>
        <p:nvSpPr>
          <p:cNvPr id="93" name="Shape 85"/>
          <p:cNvSpPr/>
          <p:nvPr/>
        </p:nvSpPr>
        <p:spPr>
          <a:xfrm>
            <a:off x="274320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2E6F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6"/>
          <p:cNvSpPr/>
          <p:nvPr/>
        </p:nvSpPr>
        <p:spPr>
          <a:xfrm>
            <a:off x="493776" y="6364224"/>
            <a:ext cx="947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Data</a:t>
            </a:r>
            <a:endParaRPr lang="en-US" sz="850" dirty="0"/>
          </a:p>
        </p:txBody>
      </p:sp>
      <p:sp>
        <p:nvSpPr>
          <p:cNvPr id="95" name="Shape 87"/>
          <p:cNvSpPr/>
          <p:nvPr/>
        </p:nvSpPr>
        <p:spPr>
          <a:xfrm>
            <a:off x="1697126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88"/>
          <p:cNvSpPr/>
          <p:nvPr/>
        </p:nvSpPr>
        <p:spPr>
          <a:xfrm>
            <a:off x="1916582" y="6364224"/>
            <a:ext cx="18690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Pareto Construction</a:t>
            </a:r>
            <a:endParaRPr lang="en-US" sz="850" dirty="0"/>
          </a:p>
        </p:txBody>
      </p:sp>
      <p:sp>
        <p:nvSpPr>
          <p:cNvPr id="97" name="Shape 89"/>
          <p:cNvSpPr/>
          <p:nvPr/>
        </p:nvSpPr>
        <p:spPr>
          <a:xfrm>
            <a:off x="4041648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0B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0"/>
          <p:cNvSpPr/>
          <p:nvPr/>
        </p:nvSpPr>
        <p:spPr>
          <a:xfrm>
            <a:off x="4261104" y="63642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Payload Selection</a:t>
            </a:r>
            <a:endParaRPr lang="en-US" sz="850" dirty="0"/>
          </a:p>
        </p:txBody>
      </p:sp>
      <p:sp>
        <p:nvSpPr>
          <p:cNvPr id="99" name="Shape 91"/>
          <p:cNvSpPr/>
          <p:nvPr/>
        </p:nvSpPr>
        <p:spPr>
          <a:xfrm>
            <a:off x="6254496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C86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2"/>
          <p:cNvSpPr/>
          <p:nvPr/>
        </p:nvSpPr>
        <p:spPr>
          <a:xfrm>
            <a:off x="6473952" y="6364224"/>
            <a:ext cx="10131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Output</a:t>
            </a:r>
            <a:endParaRPr lang="en-US" sz="850" dirty="0"/>
          </a:p>
        </p:txBody>
      </p:sp>
      <p:sp>
        <p:nvSpPr>
          <p:cNvPr id="101" name="Shape 93"/>
          <p:cNvSpPr/>
          <p:nvPr/>
        </p:nvSpPr>
        <p:spPr>
          <a:xfrm>
            <a:off x="7743139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5B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4"/>
          <p:cNvSpPr/>
          <p:nvPr/>
        </p:nvSpPr>
        <p:spPr>
          <a:xfrm>
            <a:off x="7962595" y="6364224"/>
            <a:ext cx="1276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Feedback</a:t>
            </a:r>
            <a:endParaRPr lang="en-US" sz="850" dirty="0"/>
          </a:p>
        </p:txBody>
      </p:sp>
      <p:sp>
        <p:nvSpPr>
          <p:cNvPr id="103" name="Shape 95"/>
          <p:cNvSpPr/>
          <p:nvPr/>
        </p:nvSpPr>
        <p:spPr>
          <a:xfrm>
            <a:off x="9495130" y="640994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9C7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6"/>
          <p:cNvSpPr/>
          <p:nvPr/>
        </p:nvSpPr>
        <p:spPr>
          <a:xfrm>
            <a:off x="9714586" y="636422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05" name="Text 97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separates deterministic Pareto front construction (Tier 1) from instantaneous payload-driven route selection (Tier 2), connected by an explicit algebraic weight-mapping bridge from payload metadata to routing objectives.</a:t>
            </a:r>
            <a:endParaRPr lang="en-US" sz="850" dirty="0"/>
          </a:p>
        </p:txBody>
      </p:sp>
      <p:pic>
        <p:nvPicPr>
          <p:cNvPr id="106" name="Picture 105" descr="Implementing OSMNx in Python - Data Science Prophet">
            <a:extLst>
              <a:ext uri="{FF2B5EF4-FFF2-40B4-BE49-F238E27FC236}">
                <a16:creationId xmlns:a16="http://schemas.microsoft.com/office/drawing/2014/main" id="{E72FA523-05C5-2FB1-0C6F-9122727B5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0" t="8943" r="14026" b="27828"/>
          <a:stretch>
            <a:fillRect/>
          </a:stretch>
        </p:blipFill>
        <p:spPr>
          <a:xfrm>
            <a:off x="356616" y="2442966"/>
            <a:ext cx="548640" cy="453140"/>
          </a:xfrm>
          <a:prstGeom prst="rect">
            <a:avLst/>
          </a:prstGeom>
        </p:spPr>
      </p:pic>
      <p:pic>
        <p:nvPicPr>
          <p:cNvPr id="107" name="Picture 106" descr="Graph Free Route Airspace, 2021 | Download Scientific Diagram">
            <a:extLst>
              <a:ext uri="{FF2B5EF4-FFF2-40B4-BE49-F238E27FC236}">
                <a16:creationId xmlns:a16="http://schemas.microsoft.com/office/drawing/2014/main" id="{70641449-51D7-0E4B-50F0-7DAE731FF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93" y="2408369"/>
            <a:ext cx="664723" cy="54607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ADC5F21-4D47-FB77-ECDF-EA27FF9EC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77" y="4001792"/>
            <a:ext cx="1331366" cy="726791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85958AFF-2D05-1C0A-10EA-A0AF1C7621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29" r="1" b="9698"/>
          <a:stretch>
            <a:fillRect/>
          </a:stretch>
        </p:blipFill>
        <p:spPr>
          <a:xfrm>
            <a:off x="3561588" y="4208285"/>
            <a:ext cx="1504283" cy="766292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8D87AC90-B52B-9875-C719-166D75FAC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599" y="2423160"/>
            <a:ext cx="1408271" cy="768773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6F5D59A9-CF3F-5CD9-CF01-DEA387DD4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3151" y="3358286"/>
            <a:ext cx="1235341" cy="674370"/>
          </a:xfrm>
          <a:prstGeom prst="rect">
            <a:avLst/>
          </a:prstGeom>
        </p:spPr>
      </p:pic>
      <p:pic>
        <p:nvPicPr>
          <p:cNvPr id="124" name="Picture 123" descr="ArduPilot Documentation — ArduPilot documentation">
            <a:extLst>
              <a:ext uri="{FF2B5EF4-FFF2-40B4-BE49-F238E27FC236}">
                <a16:creationId xmlns:a16="http://schemas.microsoft.com/office/drawing/2014/main" id="{5B6B04A8-1E78-9081-7F3E-F55EACFA18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2503" y="1534439"/>
            <a:ext cx="435333" cy="224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493</Words>
  <Application>Microsoft Office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THIRUMURUGAN RA</cp:lastModifiedBy>
  <cp:revision>2</cp:revision>
  <dcterms:created xsi:type="dcterms:W3CDTF">2026-08-29T16:57:32Z</dcterms:created>
  <dcterms:modified xsi:type="dcterms:W3CDTF">2026-08-30T06:35:12Z</dcterms:modified>
</cp:coreProperties>
</file>